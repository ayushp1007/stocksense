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9367469154206" /><Relationship Type="http://schemas.openxmlformats.org/officeDocument/2006/relationships/extended-properties" Target="/docProps/app.xml" Id="Rd541fa33ff0842ae" /><Relationship Type="http://schemas.openxmlformats.org/officeDocument/2006/relationships/officeDocument" Target="/ppt/presentation.xml" Id="Rc52df93274e84c2d" /></Relationships>
</file>

<file path=ppt/presentation.xml><?xml version="1.0" encoding="utf-8"?>
<p:presentation xmlns:p="http://schemas.openxmlformats.org/presentationml/2006/main">
  <p:sldMasterIdLst>
    <p:sldMasterId xmlns:r="http://schemas.openxmlformats.org/officeDocument/2006/relationships" id="2147483648" r:id="R342f1b3d68c349b6"/>
  </p:sldMasterIdLst>
  <p:notesMasterIdLst>
    <p:notesMasterId xmlns:r="http://schemas.openxmlformats.org/officeDocument/2006/relationships" r:id="R045545cad8f64de4"/>
  </p:notesMasterIdLst>
  <p:sldIdLst>
    <p:sldId xmlns:r="http://schemas.openxmlformats.org/officeDocument/2006/relationships" id="256" r:id="R87bc051a76ff410d"/>
    <p:sldId xmlns:r="http://schemas.openxmlformats.org/officeDocument/2006/relationships" id="257" r:id="R18fbeee39c0a4cef"/>
    <p:sldId xmlns:r="http://schemas.openxmlformats.org/officeDocument/2006/relationships" id="258" r:id="Rd80db86d669b4541"/>
    <p:sldId xmlns:r="http://schemas.openxmlformats.org/officeDocument/2006/relationships" id="259" r:id="R0c750b6575c14bc2"/>
    <p:sldId xmlns:r="http://schemas.openxmlformats.org/officeDocument/2006/relationships" id="260" r:id="Redd3e5a1f4204b3f"/>
    <p:sldId xmlns:r="http://schemas.openxmlformats.org/officeDocument/2006/relationships" id="261" r:id="Rdf2bfd9d05c14cc6"/>
    <p:sldId xmlns:r="http://schemas.openxmlformats.org/officeDocument/2006/relationships" id="262" r:id="R6baafe14b9924dfe"/>
    <p:sldId xmlns:r="http://schemas.openxmlformats.org/officeDocument/2006/relationships" id="263" r:id="R10fffbf502834d0c"/>
    <p:sldId xmlns:r="http://schemas.openxmlformats.org/officeDocument/2006/relationships" id="264" r:id="R68bf9514d78645f5"/>
    <p:sldId xmlns:r="http://schemas.openxmlformats.org/officeDocument/2006/relationships" id="265" r:id="Rb76849b93bc242ef"/>
    <p:sldId xmlns:r="http://schemas.openxmlformats.org/officeDocument/2006/relationships" id="266" r:id="R46efb961fcb34a46"/>
    <p:sldId xmlns:r="http://schemas.openxmlformats.org/officeDocument/2006/relationships" id="267" r:id="R6995abf86d0d4e31"/>
    <p:sldId xmlns:r="http://schemas.openxmlformats.org/officeDocument/2006/relationships" id="268" r:id="R584dce852e8640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44014184fa49a0" /><Relationship Type="http://schemas.openxmlformats.org/officeDocument/2006/relationships/slideMaster" Target="/ppt/slideMasters/slideMaster1.xml" Id="R342f1b3d68c349b6" /><Relationship Type="http://schemas.openxmlformats.org/officeDocument/2006/relationships/notesMaster" Target="/ppt/notesMasters/notesMaster1.xml" Id="R045545cad8f64de4" /><Relationship Type="http://schemas.openxmlformats.org/officeDocument/2006/relationships/presProps" Target="/ppt/presProps.xml" Id="Rff8847463ad44558" /><Relationship Type="http://schemas.openxmlformats.org/officeDocument/2006/relationships/tableStyles" Target="/ppt/tableStyles.xml" Id="R60dbc5b8309d4e2e" /><Relationship Type="http://schemas.openxmlformats.org/officeDocument/2006/relationships/slide" Target="/ppt/slides/slide1.xml" Id="R87bc051a76ff410d" /><Relationship Type="http://schemas.openxmlformats.org/officeDocument/2006/relationships/slide" Target="/ppt/slides/slide2.xml" Id="R18fbeee39c0a4cef" /><Relationship Type="http://schemas.openxmlformats.org/officeDocument/2006/relationships/slide" Target="/ppt/slides/slide3.xml" Id="Rd80db86d669b4541" /><Relationship Type="http://schemas.openxmlformats.org/officeDocument/2006/relationships/slide" Target="/ppt/slides/slide4.xml" Id="R0c750b6575c14bc2" /><Relationship Type="http://schemas.openxmlformats.org/officeDocument/2006/relationships/slide" Target="/ppt/slides/slide5.xml" Id="Redd3e5a1f4204b3f" /><Relationship Type="http://schemas.openxmlformats.org/officeDocument/2006/relationships/slide" Target="/ppt/slides/slide6.xml" Id="Rdf2bfd9d05c14cc6" /><Relationship Type="http://schemas.openxmlformats.org/officeDocument/2006/relationships/slide" Target="/ppt/slides/slide7.xml" Id="R6baafe14b9924dfe" /><Relationship Type="http://schemas.openxmlformats.org/officeDocument/2006/relationships/slide" Target="/ppt/slides/slide8.xml" Id="R10fffbf502834d0c" /><Relationship Type="http://schemas.openxmlformats.org/officeDocument/2006/relationships/slide" Target="/ppt/slides/slide9.xml" Id="R68bf9514d78645f5" /><Relationship Type="http://schemas.openxmlformats.org/officeDocument/2006/relationships/slide" Target="/ppt/slides/slide10.xml" Id="Rb76849b93bc242ef" /><Relationship Type="http://schemas.openxmlformats.org/officeDocument/2006/relationships/slide" Target="/ppt/slides/slide11.xml" Id="R46efb961fcb34a46" /><Relationship Type="http://schemas.openxmlformats.org/officeDocument/2006/relationships/slide" Target="/ppt/slides/slide12.xml" Id="R6995abf86d0d4e31" /><Relationship Type="http://schemas.openxmlformats.org/officeDocument/2006/relationships/slide" Target="/ppt/slides/slide13.xml" Id="R584dce852e8640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026214b17e41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95cf6ef93545ad" /><Relationship Type="http://schemas.openxmlformats.org/officeDocument/2006/relationships/notesMaster" Target="/ppt/notesMasters/notesMaster1.xml" Id="Rce48eb947ecc41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5115aa8534e65" /><Relationship Type="http://schemas.openxmlformats.org/officeDocument/2006/relationships/notesMaster" Target="/ppt/notesMasters/notesMaster1.xml" Id="R2b3134377c0946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cd2a573d864fa1" /><Relationship Type="http://schemas.openxmlformats.org/officeDocument/2006/relationships/notesMaster" Target="/ppt/notesMasters/notesMaster1.xml" Id="R3c6d94ccf0c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5c2da35da74c86" /><Relationship Type="http://schemas.openxmlformats.org/officeDocument/2006/relationships/notesMaster" Target="/ppt/notesMasters/notesMaster1.xml" Id="R92bf5803ff144c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d3f997b4a240d1" /><Relationship Type="http://schemas.openxmlformats.org/officeDocument/2006/relationships/notesMaster" Target="/ppt/notesMasters/notesMaster1.xml" Id="R96991790d6254e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dcbc66b1ad4772" /><Relationship Type="http://schemas.openxmlformats.org/officeDocument/2006/relationships/notesMaster" Target="/ppt/notesMasters/notesMaster1.xml" Id="Re74b94f588a442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c22a34193f4eb9" /><Relationship Type="http://schemas.openxmlformats.org/officeDocument/2006/relationships/notesMaster" Target="/ppt/notesMasters/notesMaster1.xml" Id="Rcbca514e1fbf41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54890c001f4b74" /><Relationship Type="http://schemas.openxmlformats.org/officeDocument/2006/relationships/notesMaster" Target="/ppt/notesMasters/notesMaster1.xml" Id="Rd7ffdcae5b2447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d9c1f9170349af" /><Relationship Type="http://schemas.openxmlformats.org/officeDocument/2006/relationships/notesMaster" Target="/ppt/notesMasters/notesMaster1.xml" Id="Reae53850c14c4f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45530d1d5d4e3f" /><Relationship Type="http://schemas.openxmlformats.org/officeDocument/2006/relationships/notesMaster" Target="/ppt/notesMasters/notesMaster1.xml" Id="R82102a9411f7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e93f635fad416d" /><Relationship Type="http://schemas.openxmlformats.org/officeDocument/2006/relationships/notesMaster" Target="/ppt/notesMasters/notesMaster1.xml" Id="R90be8e1b7e5548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d5fbf6d25444d5" /><Relationship Type="http://schemas.openxmlformats.org/officeDocument/2006/relationships/notesMaster" Target="/ppt/notesMasters/notesMaster1.xml" Id="Rfa79eec37f4d4d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589def305e4adb" /><Relationship Type="http://schemas.openxmlformats.org/officeDocument/2006/relationships/notesMaster" Target="/ppt/notesMasters/notesMaster1.xml" Id="Rf4d1e308228647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I’m Ayush Pandey from team X. StockSense connects warehouse work, manager decisions and stock records in one workspace. Every stock change has a clear owner and a traceable record. Presenter: Ayush Pandey. Team: X. Institution: X. Cover is conceptual brand artwork, not a photograph of a customer site.</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Imagine a receipt planned for ten units while the warehouse reports eight. Who records the difference, who approves it, and which quantity changes inventory? This is an illustrative scenario, not customer research or a measured result.</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0:35–1:00. Administrators manage access and locations. Inventory managers plan and validate movements. Warehouse staff work from assigned tasks and submit actual quantities. The server checks organization, role and warehouse scope. All screens use one API and database. Source: src/client/App.tsx and src/server/server.ts. Screenshot: isolated demo workspace.</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Drafts capture intent. Ready deliveries and transfers reserve stock. Staff report actual quantities. A manager reviews and posts the movement. The final step changes balances and ledger together. Reservations apply to outgoing delivery/transfer operations, not every receipt. Source: README Stock posting rules and operation handlers.</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1:20–2:50. Live demo: use separate manager and staff browser profiles. Show starting stock and a prepared ready receipt. Staff submits actual quantities. Show pending review and unchanged stock. Reopen the manager detail, inspect the submission, Validate movement, Confirm and post. Finish with the ledger and updated balance. The animated browser deck can instead show a labeled captured walkthrough. Never pretend recorded frames are a live demonstration.</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2:50–3:15. Same-key retries reuse a stored validation result. A different payload with the same key is rejected. Transfers post matching source and destination entries in one transaction. Counts carry a ledger revision, rejecting stale counts even if stock later returns to the same quantity. Counts also cannot consume reserved stock. Source: transaction and idempotency handlers and security regression tests.</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3:15–3:40. Replenishment uses available stock, thresholds, lead time and recent posted deliveries. The app says when there is insufficient history. The default copilot uses labeled deterministic rules. Optional OpenAI Responses integration explains inventory facts. AI cannot post stock or change settings. This demo uses the rules path. Source: /api/copilot and /api/insights, README.</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3:40–4:00. React and TypeScript power the interface. Express and SQLite enforce workflow rules. The current verification report records 27 security regression groups, 14 production scenarios and 13 browser scenarios, plus inventory smoke checks, type checking and production build. The dependency audit reports zero known vulnerabilities at this check. These are local automated results, not an independent penetration test or production deployment certification. Source: FINAL-CHECK.md and the current verification logs.</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4:00–4:20. Proposed first users are small warehouse teams. Establish a baseline, run a limited pilot and compare reconciliation time, exception resolution time and traceability. These are proposed validation metrics, not achieved business outcomes. No customer traction or savings have been measured.</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4:20–4:45. We propose a workspace subscription with tiers by warehouses and active users, plus onboarding. Pricing and willingness to pay need a pilot. Next product work includes barcodes and stronger reports. Before live deployment we need TLS, backup/restore, monitoring and provider verification. SQLite is currently single-node. Larger deployments need infrastructure and database work. Source: README scope boundaries.</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4:45–5:00. StockSense makes the warehouse-to-manager handoff visible and gives every posted movement a traceable record. The workflow is built. The next step is validating its value with a pilot partner. I’m Ayush Pandey from team X. Thank you. Contact: X.</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technical questions. React uses same-origin /api calls. Express enforces authorization, location scope, input schemas, idempotency and transactions. SQLite stores inventory, operations, ledger, audit and hashed sessions. Optional OpenAI and Resend integrations stay server-side. In development Vite proxies API calls without rewriting the browser host. Production serves built assets and requires a secure environment.</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questions. Differentiate through the controlled handoff, without claiming competitors lack these features. Pricing is a subscription hypothesis, not validated revenue. The default rules path remains useful without AI credentials. Current scale is single-node. Existing tests are evidence for the stated scenarios, not a claim that every risk is eliminated. More detailed answers and the demo checklist are in the presenter guide.</a:t>
            </a:r>
          </a:p>
          <a:p xmlns:a="http://schemas.openxmlformats.org/drawingml/2006/main">
            <a:r>
              <a:t/>
            </a:r>
          </a:p>
          <a:p xmlns:a="http://schemas.openxmlformats.org/drawingml/2006/main">
            <a:r>
              <a:t>Source: StockSense local source code, README, final verification logs, and isolated demo screenshots. Team, institution, and contact details remain placeholders.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d6748ff33b46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2e215949f40e0" /><Relationship Type="http://schemas.openxmlformats.org/officeDocument/2006/relationships/slideLayout" Target="/ppt/slideLayouts/slideLayout1.xml" Id="Rbb1b1732fe0f46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1b1732fe0f46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17f21e5a154200" /><Relationship Type="http://schemas.openxmlformats.org/officeDocument/2006/relationships/image" Target="/ppt/media/image.png" Id="R9540b0beeabe4c28" /><Relationship Type="http://schemas.openxmlformats.org/officeDocument/2006/relationships/image" Target="/ppt/media/image2.png" Id="R95a3d3bcb7a94bef" /><Relationship Type="http://schemas.openxmlformats.org/officeDocument/2006/relationships/notesSlide" Target="/ppt/notesSlides/notesSlide1.xml" Id="Rc7cc9c82173045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ad071896ba4d34" /><Relationship Type="http://schemas.openxmlformats.org/officeDocument/2006/relationships/notesSlide" Target="/ppt/notesSlides/notesSlide2.xml" Id="R5e324730628745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42abc52dc74cff" /><Relationship Type="http://schemas.openxmlformats.org/officeDocument/2006/relationships/image" Target="/ppt/media/image3.png" Id="R052ce95f163648fe" /><Relationship Type="http://schemas.openxmlformats.org/officeDocument/2006/relationships/notesSlide" Target="/ppt/notesSlides/notesSlide3.xml" Id="R9af18441bebb43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a24b5086264ad0" /><Relationship Type="http://schemas.openxmlformats.org/officeDocument/2006/relationships/image" Target="/ppt/media/image4.png" Id="Re16a04a5ddd24e37" /><Relationship Type="http://schemas.openxmlformats.org/officeDocument/2006/relationships/notesSlide" Target="/ppt/notesSlides/notesSlide4.xml" Id="R098d8141cb934c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21a493d8144485" /><Relationship Type="http://schemas.openxmlformats.org/officeDocument/2006/relationships/image" Target="/ppt/media/image5.png" Id="R8253d3e195c145eb" /><Relationship Type="http://schemas.openxmlformats.org/officeDocument/2006/relationships/notesSlide" Target="/ppt/notesSlides/notesSlide5.xml" Id="Raba923f6d98c4e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ddfc533ce4458c" /><Relationship Type="http://schemas.openxmlformats.org/officeDocument/2006/relationships/notesSlide" Target="/ppt/notesSlides/notesSlide6.xml" Id="Ra465afb5286448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bec31cfe1d47b9" /><Relationship Type="http://schemas.openxmlformats.org/officeDocument/2006/relationships/image" Target="/ppt/media/image6.png" Id="R5230e473c1c74806" /><Relationship Type="http://schemas.openxmlformats.org/officeDocument/2006/relationships/notesSlide" Target="/ppt/notesSlides/notesSlide7.xml" Id="R493baa99d0fe40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bcc164147c470f" /><Relationship Type="http://schemas.openxmlformats.org/officeDocument/2006/relationships/notesSlide" Target="/ppt/notesSlides/notesSlide8.xml" Id="Rcdd3cb3b731f4c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d2ba60427e4f02" /><Relationship Type="http://schemas.openxmlformats.org/officeDocument/2006/relationships/notesSlide" Target="/ppt/notesSlides/notesSlide9.xml" Id="R5cf69d04df9d4b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25427716f542fb" /><Relationship Type="http://schemas.openxmlformats.org/officeDocument/2006/relationships/notesSlide" Target="/ppt/notesSlides/notesSlide10.xml" Id="Rdba7fddf5a0746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52d0e57610487c" /><Relationship Type="http://schemas.openxmlformats.org/officeDocument/2006/relationships/image" Target="/ppt/media/image7.png" Id="R6cebaffff8d94b15" /><Relationship Type="http://schemas.openxmlformats.org/officeDocument/2006/relationships/image" Target="/ppt/media/image8.png" Id="R8b89cdb3d3924e31" /><Relationship Type="http://schemas.openxmlformats.org/officeDocument/2006/relationships/notesSlide" Target="/ppt/notesSlides/notesSlide11.xml" Id="R5398540dccc045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04469233cb4c9a" /><Relationship Type="http://schemas.openxmlformats.org/officeDocument/2006/relationships/notesSlide" Target="/ppt/notesSlides/notesSlide12.xml" Id="R0852328b5d2c4f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928a2d01614702" /><Relationship Type="http://schemas.openxmlformats.org/officeDocument/2006/relationships/notesSlide" Target="/ppt/notesSlides/notesSlide13.xml" Id="R7c202fe44dc94542" /></Relationships>
</file>

<file path=ppt/slides/slide1.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540b0beeabe4c2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5a3d3bcb7a94bef"/>
          <a:stretch xmlns:a="http://schemas.openxmlformats.org/drawingml/2006/main"/>
        </p:blipFill>
        <p:spPr>
          <a:xfrm xmlns:a="http://schemas.openxmlformats.org/drawingml/2006/main">
            <a:off x="628650" y="628650"/>
            <a:ext cx="533400" cy="533400"/>
          </a:xfrm>
          <a:prstGeom xmlns:a="http://schemas.openxmlformats.org/drawingml/2006/main" prst="rect">
            <a:avLst/>
          </a:prstGeom>
        </p:spPr>
      </p:pic>
      <p:sp>
        <p:nvSpPr>
          <p:cNvPr id="3" name="s1-text2">
            <a:extLst xmlns:a="http://schemas.openxmlformats.org/drawingml/2006/main">
              <a:ext uri="{FF2B5EF4-FFF2-40B4-BE49-F238E27FC236}">
                <a16:creationId xmlns:a16="http://schemas.microsoft.com/office/drawing/2014/main" id="{FF7657CF-526A-4DED-8A09-CFD968FF346C}"/>
              </a:ext>
            </a:extLst>
          </p:cNvPr>
          <p:cNvSpPr>
            <a:spLocks xmlns:a="http://schemas.openxmlformats.org/drawingml/2006/main" noGrp="1"/>
          </p:cNvSpPr>
          <p:nvPr/>
        </p:nvSpPr>
        <p:spPr>
          <a:xfrm xmlns:a="http://schemas.openxmlformats.org/drawingml/2006/main">
            <a:off x="609600" y="2133600"/>
            <a:ext cx="6905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F4F6ED"/>
                </a:solidFill>
                <a:latin typeface="Arial"/>
                <a:ea typeface="Arial"/>
                <a:cs typeface="Arial"/>
              </a:defRPr>
            </a:pPr>
            <a:r>
              <a:rPr sz="6900" b="1">
                <a:solidFill>
                  <a:srgbClr val="F4F6ED"/>
                </a:solidFill>
                <a:latin typeface="Arial"/>
                <a:ea typeface="Arial"/>
                <a:cs typeface="Arial"/>
              </a:rPr>
              <a:t>StockSense</a:t>
            </a:r>
          </a:p>
        </p:txBody>
      </p:sp>
      <p:sp>
        <p:nvSpPr>
          <p:cNvPr id="4" name="s1-text3">
            <a:extLst xmlns:a="http://schemas.openxmlformats.org/drawingml/2006/main">
              <a:ext uri="{FF2B5EF4-FFF2-40B4-BE49-F238E27FC236}">
                <a16:creationId xmlns:a16="http://schemas.microsoft.com/office/drawing/2014/main" id="{D11C2FBC-56D7-4E4D-8DEC-15A6D1828111}"/>
              </a:ext>
            </a:extLst>
          </p:cNvPr>
          <p:cNvSpPr>
            <a:spLocks xmlns:a="http://schemas.openxmlformats.org/drawingml/2006/main" noGrp="1"/>
          </p:cNvSpPr>
          <p:nvPr/>
        </p:nvSpPr>
        <p:spPr>
          <a:xfrm xmlns:a="http://schemas.openxmlformats.org/drawingml/2006/main">
            <a:off x="647700" y="3295650"/>
            <a:ext cx="571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AF264"/>
                </a:solidFill>
                <a:latin typeface="Arial"/>
                <a:ea typeface="Arial"/>
                <a:cs typeface="Arial"/>
              </a:defRPr>
            </a:pPr>
            <a:r>
              <a:rPr sz="2400" b="0">
                <a:solidFill>
                  <a:srgbClr val="BAF264"/>
                </a:solidFill>
                <a:latin typeface="Arial"/>
                <a:ea typeface="Arial"/>
                <a:cs typeface="Arial"/>
              </a:rPr>
              <a:t>Every move, accounted for</a:t>
            </a:r>
          </a:p>
        </p:txBody>
      </p:sp>
      <p:sp>
        <p:nvSpPr>
          <p:cNvPr id="5" name="s1-text4">
            <a:extLst xmlns:a="http://schemas.openxmlformats.org/drawingml/2006/main">
              <a:ext uri="{FF2B5EF4-FFF2-40B4-BE49-F238E27FC236}">
                <a16:creationId xmlns:a16="http://schemas.microsoft.com/office/drawing/2014/main" id="{AAC276EA-0F56-4D80-A52A-B11DBC4266FE}"/>
              </a:ext>
            </a:extLst>
          </p:cNvPr>
          <p:cNvSpPr>
            <a:spLocks xmlns:a="http://schemas.openxmlformats.org/drawingml/2006/main" noGrp="1"/>
          </p:cNvSpPr>
          <p:nvPr/>
        </p:nvSpPr>
        <p:spPr>
          <a:xfrm xmlns:a="http://schemas.openxmlformats.org/drawingml/2006/main">
            <a:off x="647700" y="3952875"/>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C5D7C5"/>
                </a:solidFill>
                <a:latin typeface="Arial"/>
                <a:ea typeface="Arial"/>
                <a:cs typeface="Arial"/>
              </a:defRPr>
            </a:pPr>
            <a:r>
              <a:rPr sz="2025" b="0">
                <a:solidFill>
                  <a:srgbClr val="C5D7C5"/>
                </a:solidFill>
                <a:latin typeface="Arial"/>
                <a:ea typeface="Arial"/>
                <a:cs typeface="Arial"/>
              </a:rPr>
              <a:t>Connected inventory management</a:t>
            </a:r>
          </a:p>
        </p:txBody>
      </p:sp>
      <p:sp>
        <p:nvSpPr>
          <p:cNvPr id="6" name="s1-text5">
            <a:extLst xmlns:a="http://schemas.openxmlformats.org/drawingml/2006/main">
              <a:ext uri="{FF2B5EF4-FFF2-40B4-BE49-F238E27FC236}">
                <a16:creationId xmlns:a16="http://schemas.microsoft.com/office/drawing/2014/main" id="{49C3ED8D-0057-43EE-97BF-01FFC7549891}"/>
              </a:ext>
            </a:extLst>
          </p:cNvPr>
          <p:cNvSpPr>
            <a:spLocks xmlns:a="http://schemas.openxmlformats.org/drawingml/2006/main" noGrp="1"/>
          </p:cNvSpPr>
          <p:nvPr/>
        </p:nvSpPr>
        <p:spPr>
          <a:xfrm xmlns:a="http://schemas.openxmlformats.org/drawingml/2006/main">
            <a:off x="647700" y="5819775"/>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4F6ED"/>
                </a:solidFill>
                <a:latin typeface="Arial"/>
                <a:ea typeface="Arial"/>
                <a:cs typeface="Arial"/>
              </a:defRPr>
            </a:pPr>
            <a:r>
              <a:rPr sz="1650" b="0">
                <a:solidFill>
                  <a:srgbClr val="F4F6ED"/>
                </a:solidFill>
                <a:latin typeface="Arial"/>
                <a:ea typeface="Arial"/>
                <a:cs typeface="Arial"/>
              </a:rPr>
              <a:t>Ayush Pandey  /  Team X</a:t>
            </a:r>
          </a:p>
        </p:txBody>
      </p:sp>
    </p:spTree>
    <p:transition spd="med" advClick="1">
      <p:fade/>
    </p:transition>
    <p:extLst>
      <p:ext uri="{BB962C8B-B14F-4D97-AF65-F5344CB8AC3E}">
        <p14:creationId xmlns:p14="http://schemas.microsoft.com/office/powerpoint/2010/main" val="1854093467"/>
      </p:ext>
    </p:extLst>
  </p:cSld>
</p:sld>
</file>

<file path=ppt/slides/slide2.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10" name="s2-text0">
            <a:extLst xmlns:a="http://schemas.openxmlformats.org/drawingml/2006/main">
              <a:ext uri="{FF2B5EF4-FFF2-40B4-BE49-F238E27FC236}">
                <a16:creationId xmlns:a16="http://schemas.microsoft.com/office/drawing/2014/main" id="{841C45C0-A447-48E1-8B92-EE43D80E5659}"/>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The warehouse handoff</a:t>
            </a:r>
          </a:p>
        </p:txBody>
      </p:sp>
      <p:sp>
        <p:nvSpPr>
          <p:cNvPr id="2" name="s2-text1">
            <a:extLst xmlns:a="http://schemas.openxmlformats.org/drawingml/2006/main">
              <a:ext uri="{FF2B5EF4-FFF2-40B4-BE49-F238E27FC236}">
                <a16:creationId xmlns:a16="http://schemas.microsoft.com/office/drawing/2014/main" id="{994D6525-F2CC-433D-90D2-49183244F29A}"/>
              </a:ext>
            </a:extLst>
          </p:cNvPr>
          <p:cNvSpPr>
            <a:spLocks xmlns:a="http://schemas.openxmlformats.org/drawingml/2006/main" noGrp="1"/>
          </p:cNvSpPr>
          <p:nvPr/>
        </p:nvSpPr>
        <p:spPr>
          <a:xfrm xmlns:a="http://schemas.openxmlformats.org/drawingml/2006/main">
            <a:off x="628650" y="16668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B7065"/>
                </a:solidFill>
                <a:latin typeface="Arial"/>
                <a:ea typeface="Arial"/>
                <a:cs typeface="Arial"/>
              </a:defRPr>
            </a:pPr>
            <a:r>
              <a:rPr sz="2100" b="0">
                <a:solidFill>
                  <a:srgbClr val="5B7065"/>
                </a:solidFill>
                <a:latin typeface="Arial"/>
                <a:ea typeface="Arial"/>
                <a:cs typeface="Arial"/>
              </a:rPr>
              <a:t>Planned quantities and physical work need a shared record.</a:t>
            </a:r>
          </a:p>
        </p:txBody>
      </p:sp>
      <p:sp>
        <p:nvSpPr>
          <p:cNvPr id="3" name="s2-text2">
            <a:extLst xmlns:a="http://schemas.openxmlformats.org/drawingml/2006/main">
              <a:ext uri="{FF2B5EF4-FFF2-40B4-BE49-F238E27FC236}">
                <a16:creationId xmlns:a16="http://schemas.microsoft.com/office/drawing/2014/main" id="{AAD63850-5623-452F-A144-65AF3025E388}"/>
              </a:ext>
            </a:extLst>
          </p:cNvPr>
          <p:cNvSpPr>
            <a:spLocks xmlns:a="http://schemas.openxmlformats.org/drawingml/2006/main" noGrp="1"/>
          </p:cNvSpPr>
          <p:nvPr/>
        </p:nvSpPr>
        <p:spPr>
          <a:xfrm xmlns:a="http://schemas.openxmlformats.org/drawingml/2006/main">
            <a:off x="638175" y="27146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100" b="1">
                <a:solidFill>
                  <a:srgbClr val="102F2D"/>
                </a:solidFill>
                <a:latin typeface="Arial"/>
                <a:ea typeface="Arial"/>
                <a:cs typeface="Arial"/>
              </a:defRPr>
            </a:pPr>
            <a:r>
              <a:rPr sz="8100" b="1">
                <a:solidFill>
                  <a:srgbClr val="102F2D"/>
                </a:solidFill>
                <a:latin typeface="Arial"/>
                <a:ea typeface="Arial"/>
                <a:cs typeface="Arial"/>
              </a:rPr>
              <a:t>10</a:t>
            </a:r>
          </a:p>
        </p:txBody>
      </p:sp>
      <p:sp>
        <p:nvSpPr>
          <p:cNvPr id="4" name="s2-text3">
            <a:extLst xmlns:a="http://schemas.openxmlformats.org/drawingml/2006/main">
              <a:ext uri="{FF2B5EF4-FFF2-40B4-BE49-F238E27FC236}">
                <a16:creationId xmlns:a16="http://schemas.microsoft.com/office/drawing/2014/main" id="{E27E808C-FCB7-4165-9DF2-5FFB623B6155}"/>
              </a:ext>
            </a:extLst>
          </p:cNvPr>
          <p:cNvSpPr>
            <a:spLocks xmlns:a="http://schemas.openxmlformats.org/drawingml/2006/main" noGrp="1"/>
          </p:cNvSpPr>
          <p:nvPr/>
        </p:nvSpPr>
        <p:spPr>
          <a:xfrm xmlns:a="http://schemas.openxmlformats.org/drawingml/2006/main">
            <a:off x="685800" y="4067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B7065"/>
                </a:solidFill>
                <a:latin typeface="Arial"/>
                <a:ea typeface="Arial"/>
                <a:cs typeface="Arial"/>
              </a:defRPr>
            </a:pPr>
            <a:r>
              <a:rPr sz="2025" b="0">
                <a:solidFill>
                  <a:srgbClr val="5B7065"/>
                </a:solidFill>
                <a:latin typeface="Arial"/>
                <a:ea typeface="Arial"/>
                <a:cs typeface="Arial"/>
              </a:rPr>
              <a:t>planned units</a:t>
            </a:r>
          </a:p>
        </p:txBody>
      </p:sp>
      <p:sp>
        <p:nvSpPr>
          <p:cNvPr id="5" name="s2-text4">
            <a:extLst xmlns:a="http://schemas.openxmlformats.org/drawingml/2006/main">
              <a:ext uri="{FF2B5EF4-FFF2-40B4-BE49-F238E27FC236}">
                <a16:creationId xmlns:a16="http://schemas.microsoft.com/office/drawing/2014/main" id="{15F35D13-3E16-42DC-95F5-1AE3FA5591E0}"/>
              </a:ext>
            </a:extLst>
          </p:cNvPr>
          <p:cNvSpPr>
            <a:spLocks xmlns:a="http://schemas.openxmlformats.org/drawingml/2006/main" noGrp="1"/>
          </p:cNvSpPr>
          <p:nvPr/>
        </p:nvSpPr>
        <p:spPr>
          <a:xfrm xmlns:a="http://schemas.openxmlformats.org/drawingml/2006/main">
            <a:off x="4610100" y="27146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100" b="1">
                <a:solidFill>
                  <a:srgbClr val="087F74"/>
                </a:solidFill>
                <a:latin typeface="Arial"/>
                <a:ea typeface="Arial"/>
                <a:cs typeface="Arial"/>
              </a:defRPr>
            </a:pPr>
            <a:r>
              <a:rPr sz="8100" b="1">
                <a:solidFill>
                  <a:srgbClr val="087F74"/>
                </a:solidFill>
                <a:latin typeface="Arial"/>
                <a:ea typeface="Arial"/>
                <a:cs typeface="Arial"/>
              </a:rPr>
              <a:t>8</a:t>
            </a:r>
          </a:p>
        </p:txBody>
      </p:sp>
      <p:sp>
        <p:nvSpPr>
          <p:cNvPr id="6" name="s2-text5">
            <a:extLst xmlns:a="http://schemas.openxmlformats.org/drawingml/2006/main">
              <a:ext uri="{FF2B5EF4-FFF2-40B4-BE49-F238E27FC236}">
                <a16:creationId xmlns:a16="http://schemas.microsoft.com/office/drawing/2014/main" id="{12143C82-94F0-47C0-B11D-8AD23A06FAD1}"/>
              </a:ext>
            </a:extLst>
          </p:cNvPr>
          <p:cNvSpPr>
            <a:spLocks xmlns:a="http://schemas.openxmlformats.org/drawingml/2006/main" noGrp="1"/>
          </p:cNvSpPr>
          <p:nvPr/>
        </p:nvSpPr>
        <p:spPr>
          <a:xfrm xmlns:a="http://schemas.openxmlformats.org/drawingml/2006/main">
            <a:off x="4657725" y="4067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B7065"/>
                </a:solidFill>
                <a:latin typeface="Arial"/>
                <a:ea typeface="Arial"/>
                <a:cs typeface="Arial"/>
              </a:defRPr>
            </a:pPr>
            <a:r>
              <a:rPr sz="2025" b="0">
                <a:solidFill>
                  <a:srgbClr val="5B7065"/>
                </a:solidFill>
                <a:latin typeface="Arial"/>
                <a:ea typeface="Arial"/>
                <a:cs typeface="Arial"/>
              </a:rPr>
              <a:t>reported units</a:t>
            </a:r>
          </a:p>
        </p:txBody>
      </p:sp>
      <p:sp>
        <p:nvSpPr>
          <p:cNvPr id="7" name="s2-text6">
            <a:extLst xmlns:a="http://schemas.openxmlformats.org/drawingml/2006/main">
              <a:ext uri="{FF2B5EF4-FFF2-40B4-BE49-F238E27FC236}">
                <a16:creationId xmlns:a16="http://schemas.microsoft.com/office/drawing/2014/main" id="{89AA94CF-D25F-416A-B730-E2DC98180A13}"/>
              </a:ext>
            </a:extLst>
          </p:cNvPr>
          <p:cNvSpPr>
            <a:spLocks xmlns:a="http://schemas.openxmlformats.org/drawingml/2006/main" noGrp="1"/>
          </p:cNvSpPr>
          <p:nvPr/>
        </p:nvSpPr>
        <p:spPr>
          <a:xfrm xmlns:a="http://schemas.openxmlformats.org/drawingml/2006/main">
            <a:off x="8524875" y="2819400"/>
            <a:ext cx="304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02F2D"/>
                </a:solidFill>
                <a:latin typeface="Arial"/>
                <a:ea typeface="Arial"/>
                <a:cs typeface="Arial"/>
              </a:defRPr>
            </a:pPr>
            <a:r>
              <a:rPr sz="3675" b="1">
                <a:solidFill>
                  <a:srgbClr val="102F2D"/>
                </a:solidFill>
                <a:latin typeface="Arial"/>
                <a:ea typeface="Arial"/>
                <a:cs typeface="Arial"/>
              </a:rPr>
              <a:t>Who</a:t>
            </a:r>
          </a:p>
          <a:p xmlns:a="http://schemas.openxmlformats.org/drawingml/2006/main">
            <a:pPr>
              <a:defRPr sz="3675" b="1">
                <a:solidFill>
                  <a:srgbClr val="102F2D"/>
                </a:solidFill>
                <a:latin typeface="Arial"/>
                <a:ea typeface="Arial"/>
                <a:cs typeface="Arial"/>
              </a:defRPr>
            </a:pPr>
            <a:r>
              <a:rPr sz="3675" b="1">
                <a:solidFill>
                  <a:srgbClr val="102F2D"/>
                </a:solidFill>
                <a:latin typeface="Arial"/>
                <a:ea typeface="Arial"/>
                <a:cs typeface="Arial"/>
              </a:rPr>
              <a:t>approves?</a:t>
            </a:r>
          </a:p>
        </p:txBody>
      </p:sp>
      <p:sp>
        <p:nvSpPr>
          <p:cNvPr id="8" name="s2-text7">
            <a:extLst xmlns:a="http://schemas.openxmlformats.org/drawingml/2006/main">
              <a:ext uri="{FF2B5EF4-FFF2-40B4-BE49-F238E27FC236}">
                <a16:creationId xmlns:a16="http://schemas.microsoft.com/office/drawing/2014/main" id="{93C78119-1B39-477A-BF34-6CCCB397C249}"/>
              </a:ext>
            </a:extLst>
          </p:cNvPr>
          <p:cNvSpPr>
            <a:spLocks xmlns:a="http://schemas.openxmlformats.org/drawingml/2006/main" noGrp="1"/>
          </p:cNvSpPr>
          <p:nvPr/>
        </p:nvSpPr>
        <p:spPr>
          <a:xfrm xmlns:a="http://schemas.openxmlformats.org/drawingml/2006/main">
            <a:off x="666750" y="51816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2F2D"/>
                </a:solidFill>
                <a:latin typeface="Arial"/>
                <a:ea typeface="Arial"/>
                <a:cs typeface="Arial"/>
              </a:defRPr>
            </a:pPr>
            <a:r>
              <a:rPr sz="2175" b="0">
                <a:solidFill>
                  <a:srgbClr val="102F2D"/>
                </a:solidFill>
                <a:latin typeface="Arial"/>
                <a:ea typeface="Arial"/>
                <a:cs typeface="Arial"/>
              </a:rPr>
              <a:t>The manager needs the quantity, the reason, and the person responsible.</a:t>
            </a:r>
          </a:p>
        </p:txBody>
      </p:sp>
      <p:sp>
        <p:nvSpPr>
          <p:cNvPr id="9" name="s2-text8">
            <a:extLst xmlns:a="http://schemas.openxmlformats.org/drawingml/2006/main">
              <a:ext uri="{FF2B5EF4-FFF2-40B4-BE49-F238E27FC236}">
                <a16:creationId xmlns:a16="http://schemas.microsoft.com/office/drawing/2014/main" id="{08E17FC9-815D-40CA-AB8C-CAB6A575D904}"/>
              </a:ext>
            </a:extLst>
          </p:cNvPr>
          <p:cNvSpPr>
            <a:spLocks xmlns:a="http://schemas.openxmlformats.org/drawingml/2006/main" noGrp="1"/>
          </p:cNvSpPr>
          <p:nvPr/>
        </p:nvSpPr>
        <p:spPr>
          <a:xfrm xmlns:a="http://schemas.openxmlformats.org/drawingml/2006/main">
            <a:off x="609600" y="6210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5"/>
                </a:solidFill>
                <a:latin typeface="Arial"/>
                <a:ea typeface="Arial"/>
                <a:cs typeface="Arial"/>
              </a:defRPr>
            </a:pPr>
            <a:r>
              <a:rPr sz="1275" b="0">
                <a:solidFill>
                  <a:srgbClr val="5B7065"/>
                </a:solidFill>
                <a:latin typeface="Arial"/>
                <a:ea typeface="Arial"/>
                <a:cs typeface="Arial"/>
              </a:rPr>
              <a:t>Illustrative receipt scenario</a:t>
            </a:r>
          </a:p>
        </p:txBody>
      </p:sp>
    </p:spTree>
    <p:transition spd="med" advClick="1">
      <p:fade/>
    </p:transition>
    <p:extLst>
      <p:ext uri="{BB962C8B-B14F-4D97-AF65-F5344CB8AC3E}">
        <p14:creationId xmlns:p14="http://schemas.microsoft.com/office/powerpoint/2010/main" val="1019849011"/>
      </p:ext>
    </p:extLst>
  </p:cSld>
</p:sld>
</file>

<file path=ppt/slides/slide3.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9" name="s3-text0">
            <a:extLst xmlns:a="http://schemas.openxmlformats.org/drawingml/2006/main">
              <a:ext uri="{FF2B5EF4-FFF2-40B4-BE49-F238E27FC236}">
                <a16:creationId xmlns:a16="http://schemas.microsoft.com/office/drawing/2014/main" id="{C94E050E-CD7E-4E7C-AEFC-0C3323854C1E}"/>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One workspace for every role</a:t>
            </a:r>
          </a:p>
        </p:txBody>
      </p:sp>
      <p:sp>
        <p:nvSpPr>
          <p:cNvPr id="2" name="s3-text1">
            <a:extLst xmlns:a="http://schemas.openxmlformats.org/drawingml/2006/main">
              <a:ext uri="{FF2B5EF4-FFF2-40B4-BE49-F238E27FC236}">
                <a16:creationId xmlns:a16="http://schemas.microsoft.com/office/drawing/2014/main" id="{53D7DBFC-4021-4734-AEC1-19EE11F83BAF}"/>
              </a:ext>
            </a:extLst>
          </p:cNvPr>
          <p:cNvSpPr>
            <a:spLocks xmlns:a="http://schemas.openxmlformats.org/drawingml/2006/main" noGrp="1"/>
          </p:cNvSpPr>
          <p:nvPr/>
        </p:nvSpPr>
        <p:spPr>
          <a:xfrm xmlns:a="http://schemas.openxmlformats.org/drawingml/2006/main">
            <a:off x="628650" y="20193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F2D"/>
                </a:solidFill>
                <a:latin typeface="Arial"/>
                <a:ea typeface="Arial"/>
                <a:cs typeface="Arial"/>
              </a:defRPr>
            </a:pPr>
            <a:r>
              <a:rPr sz="2100" b="1">
                <a:solidFill>
                  <a:srgbClr val="102F2D"/>
                </a:solidFill>
                <a:latin typeface="Arial"/>
                <a:ea typeface="Arial"/>
                <a:cs typeface="Arial"/>
              </a:rPr>
              <a:t>Administrator</a:t>
            </a:r>
          </a:p>
        </p:txBody>
      </p:sp>
      <p:sp>
        <p:nvSpPr>
          <p:cNvPr id="3" name="s3-text2">
            <a:extLst xmlns:a="http://schemas.openxmlformats.org/drawingml/2006/main">
              <a:ext uri="{FF2B5EF4-FFF2-40B4-BE49-F238E27FC236}">
                <a16:creationId xmlns:a16="http://schemas.microsoft.com/office/drawing/2014/main" id="{15287E50-DFCE-4FDF-B035-AA4462F8CFB0}"/>
              </a:ext>
            </a:extLst>
          </p:cNvPr>
          <p:cNvSpPr>
            <a:spLocks xmlns:a="http://schemas.openxmlformats.org/drawingml/2006/main" noGrp="1"/>
          </p:cNvSpPr>
          <p:nvPr/>
        </p:nvSpPr>
        <p:spPr>
          <a:xfrm xmlns:a="http://schemas.openxmlformats.org/drawingml/2006/main">
            <a:off x="628650" y="2486025"/>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Access and warehouse assignments</a:t>
            </a:r>
          </a:p>
        </p:txBody>
      </p:sp>
      <p:sp>
        <p:nvSpPr>
          <p:cNvPr id="4" name="s3-text3">
            <a:extLst xmlns:a="http://schemas.openxmlformats.org/drawingml/2006/main">
              <a:ext uri="{FF2B5EF4-FFF2-40B4-BE49-F238E27FC236}">
                <a16:creationId xmlns:a16="http://schemas.microsoft.com/office/drawing/2014/main" id="{CAA00E03-C189-420B-A499-5EA8FF09C806}"/>
              </a:ext>
            </a:extLst>
          </p:cNvPr>
          <p:cNvSpPr>
            <a:spLocks xmlns:a="http://schemas.openxmlformats.org/drawingml/2006/main" noGrp="1"/>
          </p:cNvSpPr>
          <p:nvPr/>
        </p:nvSpPr>
        <p:spPr>
          <a:xfrm xmlns:a="http://schemas.openxmlformats.org/drawingml/2006/main">
            <a:off x="628650" y="3400425"/>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F2D"/>
                </a:solidFill>
                <a:latin typeface="Arial"/>
                <a:ea typeface="Arial"/>
                <a:cs typeface="Arial"/>
              </a:defRPr>
            </a:pPr>
            <a:r>
              <a:rPr sz="2100" b="1">
                <a:solidFill>
                  <a:srgbClr val="102F2D"/>
                </a:solidFill>
                <a:latin typeface="Arial"/>
                <a:ea typeface="Arial"/>
                <a:cs typeface="Arial"/>
              </a:rPr>
              <a:t>Inventory manager</a:t>
            </a:r>
          </a:p>
        </p:txBody>
      </p:sp>
      <p:sp>
        <p:nvSpPr>
          <p:cNvPr id="5" name="s3-text4">
            <a:extLst xmlns:a="http://schemas.openxmlformats.org/drawingml/2006/main">
              <a:ext uri="{FF2B5EF4-FFF2-40B4-BE49-F238E27FC236}">
                <a16:creationId xmlns:a16="http://schemas.microsoft.com/office/drawing/2014/main" id="{9175FE67-5CA0-4465-A17A-D1B6F352FCD0}"/>
              </a:ext>
            </a:extLst>
          </p:cNvPr>
          <p:cNvSpPr>
            <a:spLocks xmlns:a="http://schemas.openxmlformats.org/drawingml/2006/main" noGrp="1"/>
          </p:cNvSpPr>
          <p:nvPr/>
        </p:nvSpPr>
        <p:spPr>
          <a:xfrm xmlns:a="http://schemas.openxmlformats.org/drawingml/2006/main">
            <a:off x="628650" y="3867150"/>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Planning, exceptions and posting</a:t>
            </a:r>
          </a:p>
        </p:txBody>
      </p:sp>
      <p:sp>
        <p:nvSpPr>
          <p:cNvPr id="6" name="s3-text5">
            <a:extLst xmlns:a="http://schemas.openxmlformats.org/drawingml/2006/main">
              <a:ext uri="{FF2B5EF4-FFF2-40B4-BE49-F238E27FC236}">
                <a16:creationId xmlns:a16="http://schemas.microsoft.com/office/drawing/2014/main" id="{63FE44D2-D147-4955-A7AF-9514DDCF9E12}"/>
              </a:ext>
            </a:extLst>
          </p:cNvPr>
          <p:cNvSpPr>
            <a:spLocks xmlns:a="http://schemas.openxmlformats.org/drawingml/2006/main" noGrp="1"/>
          </p:cNvSpPr>
          <p:nvPr/>
        </p:nvSpPr>
        <p:spPr>
          <a:xfrm xmlns:a="http://schemas.openxmlformats.org/drawingml/2006/main">
            <a:off x="628650" y="4781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F2D"/>
                </a:solidFill>
                <a:latin typeface="Arial"/>
                <a:ea typeface="Arial"/>
                <a:cs typeface="Arial"/>
              </a:defRPr>
            </a:pPr>
            <a:r>
              <a:rPr sz="2100" b="1">
                <a:solidFill>
                  <a:srgbClr val="102F2D"/>
                </a:solidFill>
                <a:latin typeface="Arial"/>
                <a:ea typeface="Arial"/>
                <a:cs typeface="Arial"/>
              </a:rPr>
              <a:t>Warehouse staff</a:t>
            </a:r>
          </a:p>
        </p:txBody>
      </p:sp>
      <p:sp>
        <p:nvSpPr>
          <p:cNvPr id="7" name="s3-text6">
            <a:extLst xmlns:a="http://schemas.openxmlformats.org/drawingml/2006/main">
              <a:ext uri="{FF2B5EF4-FFF2-40B4-BE49-F238E27FC236}">
                <a16:creationId xmlns:a16="http://schemas.microsoft.com/office/drawing/2014/main" id="{3E7921D3-58FF-4CEA-B11E-6C2389C8BDB6}"/>
              </a:ext>
            </a:extLst>
          </p:cNvPr>
          <p:cNvSpPr>
            <a:spLocks xmlns:a="http://schemas.openxmlformats.org/drawingml/2006/main" noGrp="1"/>
          </p:cNvSpPr>
          <p:nvPr/>
        </p:nvSpPr>
        <p:spPr>
          <a:xfrm xmlns:a="http://schemas.openxmlformats.org/drawingml/2006/main">
            <a:off x="628650" y="5248275"/>
            <a:ext cx="323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Assigned work and actual quantities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2ce95f163648fe"/>
          <a:stretch xmlns:a="http://schemas.openxmlformats.org/drawingml/2006/main"/>
        </p:blipFill>
        <p:spPr>
          <a:xfrm xmlns:a="http://schemas.openxmlformats.org/drawingml/2006/main">
            <a:off x="4352925" y="1857375"/>
            <a:ext cx="7239000" cy="4524375"/>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79342769"/>
      </p:ext>
    </p:extLst>
  </p:cSld>
</p:sld>
</file>

<file path=ppt/slides/slide4.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sp>
        <p:nvSpPr>
          <p:cNvPr id="15" name="s4-text0">
            <a:extLst xmlns:a="http://schemas.openxmlformats.org/drawingml/2006/main">
              <a:ext uri="{FF2B5EF4-FFF2-40B4-BE49-F238E27FC236}">
                <a16:creationId xmlns:a16="http://schemas.microsoft.com/office/drawing/2014/main" id="{74CE4091-C6AD-4C68-A0AC-0C23DA24C7BD}"/>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6ED"/>
                </a:solidFill>
                <a:latin typeface="Arial"/>
                <a:ea typeface="Arial"/>
                <a:cs typeface="Arial"/>
              </a:defRPr>
            </a:pPr>
            <a:r>
              <a:rPr sz="3600" b="1">
                <a:solidFill>
                  <a:srgbClr val="F4F6ED"/>
                </a:solidFill>
                <a:latin typeface="Arial"/>
                <a:ea typeface="Arial"/>
                <a:cs typeface="Arial"/>
              </a:rPr>
              <a:t>A controlled posting sequence</a:t>
            </a:r>
          </a:p>
        </p:txBody>
      </p:sp>
      <p:sp>
        <p:nvSpPr>
          <p:cNvPr id="2" name="s4-text1">
            <a:extLst xmlns:a="http://schemas.openxmlformats.org/drawingml/2006/main">
              <a:ext uri="{FF2B5EF4-FFF2-40B4-BE49-F238E27FC236}">
                <a16:creationId xmlns:a16="http://schemas.microsoft.com/office/drawing/2014/main" id="{6858B4DA-8D69-4AD6-8CB6-E60E671130CA}"/>
              </a:ext>
            </a:extLst>
          </p:cNvPr>
          <p:cNvSpPr>
            <a:spLocks xmlns:a="http://schemas.openxmlformats.org/drawingml/2006/main" noGrp="1"/>
          </p:cNvSpPr>
          <p:nvPr/>
        </p:nvSpPr>
        <p:spPr>
          <a:xfrm xmlns:a="http://schemas.openxmlformats.org/drawingml/2006/main">
            <a:off x="628650" y="18954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AF264"/>
                </a:solidFill>
                <a:latin typeface="Arial"/>
                <a:ea typeface="Arial"/>
                <a:cs typeface="Arial"/>
              </a:defRPr>
            </a:pPr>
            <a:r>
              <a:rPr sz="2700" b="1">
                <a:solidFill>
                  <a:srgbClr val="BAF264"/>
                </a:solidFill>
                <a:latin typeface="Arial"/>
                <a:ea typeface="Arial"/>
                <a:cs typeface="Arial"/>
              </a:rPr>
              <a:t>01</a:t>
            </a:r>
          </a:p>
        </p:txBody>
      </p:sp>
      <p:sp>
        <p:nvSpPr>
          <p:cNvPr id="3" name="s4-text2">
            <a:extLst xmlns:a="http://schemas.openxmlformats.org/drawingml/2006/main">
              <a:ext uri="{FF2B5EF4-FFF2-40B4-BE49-F238E27FC236}">
                <a16:creationId xmlns:a16="http://schemas.microsoft.com/office/drawing/2014/main" id="{AB1D4995-F45F-41BE-AE24-A156C2336A90}"/>
              </a:ext>
            </a:extLst>
          </p:cNvPr>
          <p:cNvSpPr>
            <a:spLocks xmlns:a="http://schemas.openxmlformats.org/drawingml/2006/main" noGrp="1"/>
          </p:cNvSpPr>
          <p:nvPr/>
        </p:nvSpPr>
        <p:spPr>
          <a:xfrm xmlns:a="http://schemas.openxmlformats.org/drawingml/2006/main">
            <a:off x="1524000" y="18954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6ED"/>
                </a:solidFill>
                <a:latin typeface="Arial"/>
                <a:ea typeface="Arial"/>
                <a:cs typeface="Arial"/>
              </a:defRPr>
            </a:pPr>
            <a:r>
              <a:rPr sz="2175" b="1">
                <a:solidFill>
                  <a:srgbClr val="F4F6ED"/>
                </a:solidFill>
                <a:latin typeface="Arial"/>
                <a:ea typeface="Arial"/>
                <a:cs typeface="Arial"/>
              </a:rPr>
              <a:t>Plan the movement</a:t>
            </a:r>
          </a:p>
        </p:txBody>
      </p:sp>
      <p:sp>
        <p:nvSpPr>
          <p:cNvPr id="4" name="s4-text3">
            <a:extLst xmlns:a="http://schemas.openxmlformats.org/drawingml/2006/main">
              <a:ext uri="{FF2B5EF4-FFF2-40B4-BE49-F238E27FC236}">
                <a16:creationId xmlns:a16="http://schemas.microsoft.com/office/drawing/2014/main" id="{A2FFEB6A-1E29-40B3-B9C8-F864F54A16DC}"/>
              </a:ext>
            </a:extLst>
          </p:cNvPr>
          <p:cNvSpPr>
            <a:spLocks xmlns:a="http://schemas.openxmlformats.org/drawingml/2006/main" noGrp="1"/>
          </p:cNvSpPr>
          <p:nvPr/>
        </p:nvSpPr>
        <p:spPr>
          <a:xfrm xmlns:a="http://schemas.openxmlformats.org/drawingml/2006/main">
            <a:off x="1524000" y="2314575"/>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5D7C5"/>
                </a:solidFill>
                <a:latin typeface="Arial"/>
                <a:ea typeface="Arial"/>
                <a:cs typeface="Arial"/>
              </a:defRPr>
            </a:pPr>
            <a:r>
              <a:rPr sz="1725" b="0">
                <a:solidFill>
                  <a:srgbClr val="C5D7C5"/>
                </a:solidFill>
                <a:latin typeface="Arial"/>
                <a:ea typeface="Arial"/>
                <a:cs typeface="Arial"/>
              </a:rPr>
              <a:t>Drafts record intent without changing stock.</a:t>
            </a:r>
          </a:p>
        </p:txBody>
      </p:sp>
      <p:sp>
        <p:nvSpPr>
          <p:cNvPr id="5" name="s4-text4">
            <a:extLst xmlns:a="http://schemas.openxmlformats.org/drawingml/2006/main">
              <a:ext uri="{FF2B5EF4-FFF2-40B4-BE49-F238E27FC236}">
                <a16:creationId xmlns:a16="http://schemas.microsoft.com/office/drawing/2014/main" id="{30D659FD-D58D-4247-A899-4C24DB486E01}"/>
              </a:ext>
            </a:extLst>
          </p:cNvPr>
          <p:cNvSpPr>
            <a:spLocks xmlns:a="http://schemas.openxmlformats.org/drawingml/2006/main" noGrp="1"/>
          </p:cNvSpPr>
          <p:nvPr/>
        </p:nvSpPr>
        <p:spPr>
          <a:xfrm xmlns:a="http://schemas.openxmlformats.org/drawingml/2006/main">
            <a:off x="628650" y="29432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AF264"/>
                </a:solidFill>
                <a:latin typeface="Arial"/>
                <a:ea typeface="Arial"/>
                <a:cs typeface="Arial"/>
              </a:defRPr>
            </a:pPr>
            <a:r>
              <a:rPr sz="2700" b="1">
                <a:solidFill>
                  <a:srgbClr val="BAF264"/>
                </a:solidFill>
                <a:latin typeface="Arial"/>
                <a:ea typeface="Arial"/>
                <a:cs typeface="Arial"/>
              </a:rPr>
              <a:t>02</a:t>
            </a:r>
          </a:p>
        </p:txBody>
      </p:sp>
      <p:sp>
        <p:nvSpPr>
          <p:cNvPr id="6" name="s4-text5">
            <a:extLst xmlns:a="http://schemas.openxmlformats.org/drawingml/2006/main">
              <a:ext uri="{FF2B5EF4-FFF2-40B4-BE49-F238E27FC236}">
                <a16:creationId xmlns:a16="http://schemas.microsoft.com/office/drawing/2014/main" id="{1B2248AA-A4A8-41F9-8CF9-EB57FE6F9A8D}"/>
              </a:ext>
            </a:extLst>
          </p:cNvPr>
          <p:cNvSpPr>
            <a:spLocks xmlns:a="http://schemas.openxmlformats.org/drawingml/2006/main" noGrp="1"/>
          </p:cNvSpPr>
          <p:nvPr/>
        </p:nvSpPr>
        <p:spPr>
          <a:xfrm xmlns:a="http://schemas.openxmlformats.org/drawingml/2006/main">
            <a:off x="1524000" y="29432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6ED"/>
                </a:solidFill>
                <a:latin typeface="Arial"/>
                <a:ea typeface="Arial"/>
                <a:cs typeface="Arial"/>
              </a:defRPr>
            </a:pPr>
            <a:r>
              <a:rPr sz="2175" b="1">
                <a:solidFill>
                  <a:srgbClr val="F4F6ED"/>
                </a:solidFill>
                <a:latin typeface="Arial"/>
                <a:ea typeface="Arial"/>
                <a:cs typeface="Arial"/>
              </a:rPr>
              <a:t>Stage the work</a:t>
            </a:r>
          </a:p>
        </p:txBody>
      </p:sp>
      <p:sp>
        <p:nvSpPr>
          <p:cNvPr id="7" name="s4-text6">
            <a:extLst xmlns:a="http://schemas.openxmlformats.org/drawingml/2006/main">
              <a:ext uri="{FF2B5EF4-FFF2-40B4-BE49-F238E27FC236}">
                <a16:creationId xmlns:a16="http://schemas.microsoft.com/office/drawing/2014/main" id="{0AC819E1-A5BF-4798-9050-B33493652713}"/>
              </a:ext>
            </a:extLst>
          </p:cNvPr>
          <p:cNvSpPr>
            <a:spLocks xmlns:a="http://schemas.openxmlformats.org/drawingml/2006/main" noGrp="1"/>
          </p:cNvSpPr>
          <p:nvPr/>
        </p:nvSpPr>
        <p:spPr>
          <a:xfrm xmlns:a="http://schemas.openxmlformats.org/drawingml/2006/main">
            <a:off x="1524000" y="3362325"/>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5D7C5"/>
                </a:solidFill>
                <a:latin typeface="Arial"/>
                <a:ea typeface="Arial"/>
                <a:cs typeface="Arial"/>
              </a:defRPr>
            </a:pPr>
            <a:r>
              <a:rPr sz="1725" b="0">
                <a:solidFill>
                  <a:srgbClr val="C5D7C5"/>
                </a:solidFill>
                <a:latin typeface="Arial"/>
                <a:ea typeface="Arial"/>
                <a:cs typeface="Arial"/>
              </a:rPr>
              <a:t>Ready deliveries and transfers reserve stock.</a:t>
            </a:r>
          </a:p>
        </p:txBody>
      </p:sp>
      <p:sp>
        <p:nvSpPr>
          <p:cNvPr id="8" name="s4-text7">
            <a:extLst xmlns:a="http://schemas.openxmlformats.org/drawingml/2006/main">
              <a:ext uri="{FF2B5EF4-FFF2-40B4-BE49-F238E27FC236}">
                <a16:creationId xmlns:a16="http://schemas.microsoft.com/office/drawing/2014/main" id="{CC6123D8-01EA-4A8D-8EBA-C015E074E6B3}"/>
              </a:ext>
            </a:extLst>
          </p:cNvPr>
          <p:cNvSpPr>
            <a:spLocks xmlns:a="http://schemas.openxmlformats.org/drawingml/2006/main" noGrp="1"/>
          </p:cNvSpPr>
          <p:nvPr/>
        </p:nvSpPr>
        <p:spPr>
          <a:xfrm xmlns:a="http://schemas.openxmlformats.org/drawingml/2006/main">
            <a:off x="628650" y="39909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AF264"/>
                </a:solidFill>
                <a:latin typeface="Arial"/>
                <a:ea typeface="Arial"/>
                <a:cs typeface="Arial"/>
              </a:defRPr>
            </a:pPr>
            <a:r>
              <a:rPr sz="2700" b="1">
                <a:solidFill>
                  <a:srgbClr val="BAF264"/>
                </a:solidFill>
                <a:latin typeface="Arial"/>
                <a:ea typeface="Arial"/>
                <a:cs typeface="Arial"/>
              </a:rPr>
              <a:t>03</a:t>
            </a:r>
          </a:p>
        </p:txBody>
      </p:sp>
      <p:sp>
        <p:nvSpPr>
          <p:cNvPr id="9" name="s4-text8">
            <a:extLst xmlns:a="http://schemas.openxmlformats.org/drawingml/2006/main">
              <a:ext uri="{FF2B5EF4-FFF2-40B4-BE49-F238E27FC236}">
                <a16:creationId xmlns:a16="http://schemas.microsoft.com/office/drawing/2014/main" id="{F17BFE88-7D43-4E02-B03B-FB86D07EDB66}"/>
              </a:ext>
            </a:extLst>
          </p:cNvPr>
          <p:cNvSpPr>
            <a:spLocks xmlns:a="http://schemas.openxmlformats.org/drawingml/2006/main" noGrp="1"/>
          </p:cNvSpPr>
          <p:nvPr/>
        </p:nvSpPr>
        <p:spPr>
          <a:xfrm xmlns:a="http://schemas.openxmlformats.org/drawingml/2006/main">
            <a:off x="1524000" y="39909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6ED"/>
                </a:solidFill>
                <a:latin typeface="Arial"/>
                <a:ea typeface="Arial"/>
                <a:cs typeface="Arial"/>
              </a:defRPr>
            </a:pPr>
            <a:r>
              <a:rPr sz="2175" b="1">
                <a:solidFill>
                  <a:srgbClr val="F4F6ED"/>
                </a:solidFill>
                <a:latin typeface="Arial"/>
                <a:ea typeface="Arial"/>
                <a:cs typeface="Arial"/>
              </a:rPr>
              <a:t>Report what happened</a:t>
            </a:r>
          </a:p>
        </p:txBody>
      </p:sp>
      <p:sp>
        <p:nvSpPr>
          <p:cNvPr id="10" name="s4-text9">
            <a:extLst xmlns:a="http://schemas.openxmlformats.org/drawingml/2006/main">
              <a:ext uri="{FF2B5EF4-FFF2-40B4-BE49-F238E27FC236}">
                <a16:creationId xmlns:a16="http://schemas.microsoft.com/office/drawing/2014/main" id="{67CA78F8-3260-4391-9F7A-23F398E063C2}"/>
              </a:ext>
            </a:extLst>
          </p:cNvPr>
          <p:cNvSpPr>
            <a:spLocks xmlns:a="http://schemas.openxmlformats.org/drawingml/2006/main" noGrp="1"/>
          </p:cNvSpPr>
          <p:nvPr/>
        </p:nvSpPr>
        <p:spPr>
          <a:xfrm xmlns:a="http://schemas.openxmlformats.org/drawingml/2006/main">
            <a:off x="1524000" y="4410075"/>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5D7C5"/>
                </a:solidFill>
                <a:latin typeface="Arial"/>
                <a:ea typeface="Arial"/>
                <a:cs typeface="Arial"/>
              </a:defRPr>
            </a:pPr>
            <a:r>
              <a:rPr sz="1725" b="0">
                <a:solidFill>
                  <a:srgbClr val="C5D7C5"/>
                </a:solidFill>
                <a:latin typeface="Arial"/>
                <a:ea typeface="Arial"/>
                <a:cs typeface="Arial"/>
              </a:rPr>
              <a:t>Assigned staff submit quantities and exceptions.</a:t>
            </a:r>
          </a:p>
        </p:txBody>
      </p:sp>
      <p:sp>
        <p:nvSpPr>
          <p:cNvPr id="11" name="s4-text10">
            <a:extLst xmlns:a="http://schemas.openxmlformats.org/drawingml/2006/main">
              <a:ext uri="{FF2B5EF4-FFF2-40B4-BE49-F238E27FC236}">
                <a16:creationId xmlns:a16="http://schemas.microsoft.com/office/drawing/2014/main" id="{DB3F0DEA-A1D3-4295-90DF-C0492CB4B5DD}"/>
              </a:ext>
            </a:extLst>
          </p:cNvPr>
          <p:cNvSpPr>
            <a:spLocks xmlns:a="http://schemas.openxmlformats.org/drawingml/2006/main" noGrp="1"/>
          </p:cNvSpPr>
          <p:nvPr/>
        </p:nvSpPr>
        <p:spPr>
          <a:xfrm xmlns:a="http://schemas.openxmlformats.org/drawingml/2006/main">
            <a:off x="628650" y="50387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AF264"/>
                </a:solidFill>
                <a:latin typeface="Arial"/>
                <a:ea typeface="Arial"/>
                <a:cs typeface="Arial"/>
              </a:defRPr>
            </a:pPr>
            <a:r>
              <a:rPr sz="2700" b="1">
                <a:solidFill>
                  <a:srgbClr val="BAF264"/>
                </a:solidFill>
                <a:latin typeface="Arial"/>
                <a:ea typeface="Arial"/>
                <a:cs typeface="Arial"/>
              </a:rPr>
              <a:t>04</a:t>
            </a:r>
          </a:p>
        </p:txBody>
      </p:sp>
      <p:sp>
        <p:nvSpPr>
          <p:cNvPr id="12" name="s4-text11">
            <a:extLst xmlns:a="http://schemas.openxmlformats.org/drawingml/2006/main">
              <a:ext uri="{FF2B5EF4-FFF2-40B4-BE49-F238E27FC236}">
                <a16:creationId xmlns:a16="http://schemas.microsoft.com/office/drawing/2014/main" id="{65D7AB09-EA23-4122-9DD2-CBC45BF470F8}"/>
              </a:ext>
            </a:extLst>
          </p:cNvPr>
          <p:cNvSpPr>
            <a:spLocks xmlns:a="http://schemas.openxmlformats.org/drawingml/2006/main" noGrp="1"/>
          </p:cNvSpPr>
          <p:nvPr/>
        </p:nvSpPr>
        <p:spPr>
          <a:xfrm xmlns:a="http://schemas.openxmlformats.org/drawingml/2006/main">
            <a:off x="1524000" y="50387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6ED"/>
                </a:solidFill>
                <a:latin typeface="Arial"/>
                <a:ea typeface="Arial"/>
                <a:cs typeface="Arial"/>
              </a:defRPr>
            </a:pPr>
            <a:r>
              <a:rPr sz="2175" b="1">
                <a:solidFill>
                  <a:srgbClr val="F4F6ED"/>
                </a:solidFill>
                <a:latin typeface="Arial"/>
                <a:ea typeface="Arial"/>
                <a:cs typeface="Arial"/>
              </a:rPr>
              <a:t>Review and post</a:t>
            </a:r>
          </a:p>
        </p:txBody>
      </p:sp>
      <p:sp>
        <p:nvSpPr>
          <p:cNvPr id="13" name="s4-text12">
            <a:extLst xmlns:a="http://schemas.openxmlformats.org/drawingml/2006/main">
              <a:ext uri="{FF2B5EF4-FFF2-40B4-BE49-F238E27FC236}">
                <a16:creationId xmlns:a16="http://schemas.microsoft.com/office/drawing/2014/main" id="{1B20D218-5DC9-4290-87D7-BD5B97A95220}"/>
              </a:ext>
            </a:extLst>
          </p:cNvPr>
          <p:cNvSpPr>
            <a:spLocks xmlns:a="http://schemas.openxmlformats.org/drawingml/2006/main" noGrp="1"/>
          </p:cNvSpPr>
          <p:nvPr/>
        </p:nvSpPr>
        <p:spPr>
          <a:xfrm xmlns:a="http://schemas.openxmlformats.org/drawingml/2006/main">
            <a:off x="1524000" y="5457825"/>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5D7C5"/>
                </a:solidFill>
                <a:latin typeface="Arial"/>
                <a:ea typeface="Arial"/>
                <a:cs typeface="Arial"/>
              </a:defRPr>
            </a:pPr>
            <a:r>
              <a:rPr sz="1725" b="0">
                <a:solidFill>
                  <a:srgbClr val="C5D7C5"/>
                </a:solidFill>
                <a:latin typeface="Arial"/>
                <a:ea typeface="Arial"/>
                <a:cs typeface="Arial"/>
              </a:rPr>
              <a:t>Manager validation updates balances and ledger.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16a04a5ddd24e37"/>
          <a:stretch xmlns:a="http://schemas.openxmlformats.org/drawingml/2006/main"/>
        </p:blipFill>
        <p:spPr>
          <a:xfrm xmlns:a="http://schemas.openxmlformats.org/drawingml/2006/main">
            <a:off x="9067800" y="1810971"/>
            <a:ext cx="2190750" cy="4741008"/>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505051614"/>
      </p:ext>
    </p:extLst>
  </p:cSld>
</p:sld>
</file>

<file path=ppt/slides/slide5.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11" name="s5-text0">
            <a:extLst xmlns:a="http://schemas.openxmlformats.org/drawingml/2006/main">
              <a:ext uri="{FF2B5EF4-FFF2-40B4-BE49-F238E27FC236}">
                <a16:creationId xmlns:a16="http://schemas.microsoft.com/office/drawing/2014/main" id="{FB3E39D2-C94B-45A2-8B0D-2A98E5EB3B4F}"/>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One handoff, end to end</a:t>
            </a:r>
          </a:p>
        </p:txBody>
      </p:sp>
      <p:sp>
        <p:nvSpPr>
          <p:cNvPr id="2" name="s5-text1">
            <a:extLst xmlns:a="http://schemas.openxmlformats.org/drawingml/2006/main">
              <a:ext uri="{FF2B5EF4-FFF2-40B4-BE49-F238E27FC236}">
                <a16:creationId xmlns:a16="http://schemas.microsoft.com/office/drawing/2014/main" id="{789EDFDF-DB88-4EFC-A6CC-5505AD8BDFB8}"/>
              </a:ext>
            </a:extLst>
          </p:cNvPr>
          <p:cNvSpPr>
            <a:spLocks xmlns:a="http://schemas.openxmlformats.org/drawingml/2006/main" noGrp="1"/>
          </p:cNvSpPr>
          <p:nvPr/>
        </p:nvSpPr>
        <p:spPr>
          <a:xfrm xmlns:a="http://schemas.openxmlformats.org/drawingml/2006/main">
            <a:off x="628650" y="1514475"/>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5"/>
                </a:solidFill>
                <a:latin typeface="Arial"/>
                <a:ea typeface="Arial"/>
                <a:cs typeface="Arial"/>
              </a:defRPr>
            </a:pPr>
            <a:r>
              <a:rPr sz="1950" b="0">
                <a:solidFill>
                  <a:srgbClr val="5B7065"/>
                </a:solidFill>
                <a:latin typeface="Arial"/>
                <a:ea typeface="Arial"/>
                <a:cs typeface="Arial"/>
              </a:rPr>
              <a:t>A receipt moves through staff review and manager approval.</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253d3e195c145eb"/>
          <a:stretch xmlns:a="http://schemas.openxmlformats.org/drawingml/2006/main"/>
        </p:blipFill>
        <p:spPr>
          <a:xfrm xmlns:a="http://schemas.openxmlformats.org/drawingml/2006/main">
            <a:off x="1713548" y="2143125"/>
            <a:ext cx="5554980" cy="3857625"/>
          </a:xfrm>
          <a:prstGeom xmlns:a="http://schemas.openxmlformats.org/drawingml/2006/main" prst="rect">
            <a:avLst/>
          </a:prstGeom>
        </p:spPr>
      </p:pic>
      <p:sp>
        <p:nvSpPr>
          <p:cNvPr id="4" name="s5-text3">
            <a:extLst xmlns:a="http://schemas.openxmlformats.org/drawingml/2006/main">
              <a:ext uri="{FF2B5EF4-FFF2-40B4-BE49-F238E27FC236}">
                <a16:creationId xmlns:a16="http://schemas.microsoft.com/office/drawing/2014/main" id="{17114805-83F3-4440-B92B-FE17C6B4A6C1}"/>
              </a:ext>
            </a:extLst>
          </p:cNvPr>
          <p:cNvSpPr>
            <a:spLocks xmlns:a="http://schemas.openxmlformats.org/drawingml/2006/main" noGrp="1"/>
          </p:cNvSpPr>
          <p:nvPr/>
        </p:nvSpPr>
        <p:spPr>
          <a:xfrm xmlns:a="http://schemas.openxmlformats.org/drawingml/2006/main">
            <a:off x="8705850" y="2390775"/>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087F74"/>
                </a:solidFill>
                <a:latin typeface="Arial"/>
                <a:ea typeface="Arial"/>
                <a:cs typeface="Arial"/>
              </a:defRPr>
            </a:pPr>
            <a:r>
              <a:rPr sz="3450" b="1">
                <a:solidFill>
                  <a:srgbClr val="087F74"/>
                </a:solidFill>
                <a:latin typeface="Arial"/>
                <a:ea typeface="Arial"/>
                <a:cs typeface="Arial"/>
              </a:rPr>
              <a:t>46 kg</a:t>
            </a:r>
          </a:p>
        </p:txBody>
      </p:sp>
      <p:sp>
        <p:nvSpPr>
          <p:cNvPr id="5" name="s5-text4">
            <a:extLst xmlns:a="http://schemas.openxmlformats.org/drawingml/2006/main">
              <a:ext uri="{FF2B5EF4-FFF2-40B4-BE49-F238E27FC236}">
                <a16:creationId xmlns:a16="http://schemas.microsoft.com/office/drawing/2014/main" id="{0F951DAB-7E9D-445E-81C9-909426E06932}"/>
              </a:ext>
            </a:extLst>
          </p:cNvPr>
          <p:cNvSpPr>
            <a:spLocks xmlns:a="http://schemas.openxmlformats.org/drawingml/2006/main" noGrp="1"/>
          </p:cNvSpPr>
          <p:nvPr/>
        </p:nvSpPr>
        <p:spPr>
          <a:xfrm xmlns:a="http://schemas.openxmlformats.org/drawingml/2006/main">
            <a:off x="8705850" y="2962275"/>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before the receipt</a:t>
            </a:r>
          </a:p>
        </p:txBody>
      </p:sp>
      <p:sp>
        <p:nvSpPr>
          <p:cNvPr id="6" name="s5-text5">
            <a:extLst xmlns:a="http://schemas.openxmlformats.org/drawingml/2006/main">
              <a:ext uri="{FF2B5EF4-FFF2-40B4-BE49-F238E27FC236}">
                <a16:creationId xmlns:a16="http://schemas.microsoft.com/office/drawing/2014/main" id="{40E1B49B-0E4F-4EC7-924C-F52793A09F32}"/>
              </a:ext>
            </a:extLst>
          </p:cNvPr>
          <p:cNvSpPr>
            <a:spLocks xmlns:a="http://schemas.openxmlformats.org/drawingml/2006/main" noGrp="1"/>
          </p:cNvSpPr>
          <p:nvPr/>
        </p:nvSpPr>
        <p:spPr>
          <a:xfrm xmlns:a="http://schemas.openxmlformats.org/drawingml/2006/main">
            <a:off x="8705850" y="3705225"/>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087F74"/>
                </a:solidFill>
                <a:latin typeface="Arial"/>
                <a:ea typeface="Arial"/>
                <a:cs typeface="Arial"/>
              </a:defRPr>
            </a:pPr>
            <a:r>
              <a:rPr sz="3450" b="1">
                <a:solidFill>
                  <a:srgbClr val="087F74"/>
                </a:solidFill>
                <a:latin typeface="Arial"/>
                <a:ea typeface="Arial"/>
                <a:cs typeface="Arial"/>
              </a:rPr>
              <a:t>46 kg</a:t>
            </a:r>
          </a:p>
        </p:txBody>
      </p:sp>
      <p:sp>
        <p:nvSpPr>
          <p:cNvPr id="7" name="s5-text6">
            <a:extLst xmlns:a="http://schemas.openxmlformats.org/drawingml/2006/main">
              <a:ext uri="{FF2B5EF4-FFF2-40B4-BE49-F238E27FC236}">
                <a16:creationId xmlns:a16="http://schemas.microsoft.com/office/drawing/2014/main" id="{1934D8B2-EC49-450E-A95F-40C5B8A0D4CB}"/>
              </a:ext>
            </a:extLst>
          </p:cNvPr>
          <p:cNvSpPr>
            <a:spLocks xmlns:a="http://schemas.openxmlformats.org/drawingml/2006/main" noGrp="1"/>
          </p:cNvSpPr>
          <p:nvPr/>
        </p:nvSpPr>
        <p:spPr>
          <a:xfrm xmlns:a="http://schemas.openxmlformats.org/drawingml/2006/main">
            <a:off x="8705850" y="4276725"/>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awaiting review</a:t>
            </a:r>
          </a:p>
        </p:txBody>
      </p:sp>
      <p:sp>
        <p:nvSpPr>
          <p:cNvPr id="8" name="s5-text7">
            <a:extLst xmlns:a="http://schemas.openxmlformats.org/drawingml/2006/main">
              <a:ext uri="{FF2B5EF4-FFF2-40B4-BE49-F238E27FC236}">
                <a16:creationId xmlns:a16="http://schemas.microsoft.com/office/drawing/2014/main" id="{8ECA5EDD-54F2-4FD5-B759-C1837787EECB}"/>
              </a:ext>
            </a:extLst>
          </p:cNvPr>
          <p:cNvSpPr>
            <a:spLocks xmlns:a="http://schemas.openxmlformats.org/drawingml/2006/main" noGrp="1"/>
          </p:cNvSpPr>
          <p:nvPr/>
        </p:nvSpPr>
        <p:spPr>
          <a:xfrm xmlns:a="http://schemas.openxmlformats.org/drawingml/2006/main">
            <a:off x="8705850" y="5019675"/>
            <a:ext cx="290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087F74"/>
                </a:solidFill>
                <a:latin typeface="Arial"/>
                <a:ea typeface="Arial"/>
                <a:cs typeface="Arial"/>
              </a:defRPr>
            </a:pPr>
            <a:r>
              <a:rPr sz="3450" b="1">
                <a:solidFill>
                  <a:srgbClr val="087F74"/>
                </a:solidFill>
                <a:latin typeface="Arial"/>
                <a:ea typeface="Arial"/>
                <a:cs typeface="Arial"/>
              </a:rPr>
              <a:t>70 kg</a:t>
            </a:r>
          </a:p>
        </p:txBody>
      </p:sp>
      <p:sp>
        <p:nvSpPr>
          <p:cNvPr id="9" name="s5-text8">
            <a:extLst xmlns:a="http://schemas.openxmlformats.org/drawingml/2006/main">
              <a:ext uri="{FF2B5EF4-FFF2-40B4-BE49-F238E27FC236}">
                <a16:creationId xmlns:a16="http://schemas.microsoft.com/office/drawing/2014/main" id="{991E5718-5738-4734-8919-7E43BA347488}"/>
              </a:ext>
            </a:extLst>
          </p:cNvPr>
          <p:cNvSpPr>
            <a:spLocks xmlns:a="http://schemas.openxmlformats.org/drawingml/2006/main" noGrp="1"/>
          </p:cNvSpPr>
          <p:nvPr/>
        </p:nvSpPr>
        <p:spPr>
          <a:xfrm xmlns:a="http://schemas.openxmlformats.org/drawingml/2006/main">
            <a:off x="8705850" y="5591175"/>
            <a:ext cx="290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B7065"/>
                </a:solidFill>
                <a:latin typeface="Arial"/>
                <a:ea typeface="Arial"/>
                <a:cs typeface="Arial"/>
              </a:defRPr>
            </a:pPr>
            <a:r>
              <a:rPr sz="1800" b="0">
                <a:solidFill>
                  <a:srgbClr val="5B7065"/>
                </a:solidFill>
                <a:latin typeface="Arial"/>
                <a:ea typeface="Arial"/>
                <a:cs typeface="Arial"/>
              </a:rPr>
              <a:t>after manager approval</a:t>
            </a:r>
          </a:p>
        </p:txBody>
      </p:sp>
      <p:sp>
        <p:nvSpPr>
          <p:cNvPr id="10" name="s5-text9">
            <a:extLst xmlns:a="http://schemas.openxmlformats.org/drawingml/2006/main">
              <a:ext uri="{FF2B5EF4-FFF2-40B4-BE49-F238E27FC236}">
                <a16:creationId xmlns:a16="http://schemas.microsoft.com/office/drawing/2014/main" id="{08F1C67F-C42E-449A-9F20-5E0D6C329BA6}"/>
              </a:ext>
            </a:extLst>
          </p:cNvPr>
          <p:cNvSpPr>
            <a:spLocks xmlns:a="http://schemas.openxmlformats.org/drawingml/2006/main" noGrp="1"/>
          </p:cNvSpPr>
          <p:nvPr/>
        </p:nvSpPr>
        <p:spPr>
          <a:xfrm xmlns:a="http://schemas.openxmlformats.org/drawingml/2006/main">
            <a:off x="609600" y="6210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5"/>
                </a:solidFill>
                <a:latin typeface="Arial"/>
                <a:ea typeface="Arial"/>
                <a:cs typeface="Arial"/>
              </a:defRPr>
            </a:pPr>
            <a:r>
              <a:rPr sz="1275" b="0">
                <a:solidFill>
                  <a:srgbClr val="5B7065"/>
                </a:solidFill>
                <a:latin typeface="Arial"/>
                <a:ea typeface="Arial"/>
                <a:cs typeface="Arial"/>
              </a:rPr>
              <a:t>Captured demo: RCV-2513, 24 kg received into Main warehouse.</a:t>
            </a:r>
          </a:p>
        </p:txBody>
      </p:sp>
    </p:spTree>
    <p:transition spd="med" advClick="1">
      <p:fade/>
    </p:transition>
    <p:extLst>
      <p:ext uri="{BB962C8B-B14F-4D97-AF65-F5344CB8AC3E}">
        <p14:creationId xmlns:p14="http://schemas.microsoft.com/office/powerpoint/2010/main" val="1708488812"/>
      </p:ext>
    </p:extLst>
  </p:cSld>
</p:sld>
</file>

<file path=ppt/slides/slide6.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sp>
        <p:nvSpPr>
          <p:cNvPr id="10" name="s6-text0">
            <a:extLst xmlns:a="http://schemas.openxmlformats.org/drawingml/2006/main">
              <a:ext uri="{FF2B5EF4-FFF2-40B4-BE49-F238E27FC236}">
                <a16:creationId xmlns:a16="http://schemas.microsoft.com/office/drawing/2014/main" id="{FC781465-FE68-44FB-B694-A25142FDEEF8}"/>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6ED"/>
                </a:solidFill>
                <a:latin typeface="Arial"/>
                <a:ea typeface="Arial"/>
                <a:cs typeface="Arial"/>
              </a:defRPr>
            </a:pPr>
            <a:r>
              <a:rPr sz="3600" b="1">
                <a:solidFill>
                  <a:srgbClr val="F4F6ED"/>
                </a:solidFill>
                <a:latin typeface="Arial"/>
                <a:ea typeface="Arial"/>
                <a:cs typeface="Arial"/>
              </a:rPr>
              <a:t>The stock record has safeguards</a:t>
            </a:r>
          </a:p>
        </p:txBody>
      </p:sp>
      <p:sp>
        <p:nvSpPr>
          <p:cNvPr id="2" name="s6-text1">
            <a:extLst xmlns:a="http://schemas.openxmlformats.org/drawingml/2006/main">
              <a:ext uri="{FF2B5EF4-FFF2-40B4-BE49-F238E27FC236}">
                <a16:creationId xmlns:a16="http://schemas.microsoft.com/office/drawing/2014/main" id="{19ADEDA1-1D22-451A-91E4-3352BB4F4FE6}"/>
              </a:ext>
            </a:extLst>
          </p:cNvPr>
          <p:cNvSpPr>
            <a:spLocks xmlns:a="http://schemas.openxmlformats.org/drawingml/2006/main" noGrp="1"/>
          </p:cNvSpPr>
          <p:nvPr/>
        </p:nvSpPr>
        <p:spPr>
          <a:xfrm xmlns:a="http://schemas.openxmlformats.org/drawingml/2006/main">
            <a:off x="628650" y="21145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AF264"/>
                </a:solidFill>
                <a:latin typeface="Arial"/>
                <a:ea typeface="Arial"/>
                <a:cs typeface="Arial"/>
              </a:defRPr>
            </a:pPr>
            <a:r>
              <a:rPr sz="2550" b="1">
                <a:solidFill>
                  <a:srgbClr val="BAF264"/>
                </a:solidFill>
                <a:latin typeface="Arial"/>
                <a:ea typeface="Arial"/>
                <a:cs typeface="Arial"/>
              </a:rPr>
              <a:t>Safe retries</a:t>
            </a:r>
          </a:p>
        </p:txBody>
      </p:sp>
      <p:sp>
        <p:nvSpPr>
          <p:cNvPr id="3" name="s6-text2">
            <a:extLst xmlns:a="http://schemas.openxmlformats.org/drawingml/2006/main">
              <a:ext uri="{FF2B5EF4-FFF2-40B4-BE49-F238E27FC236}">
                <a16:creationId xmlns:a16="http://schemas.microsoft.com/office/drawing/2014/main" id="{BE87C5ED-FE0D-490D-978B-25A9CD18C140}"/>
              </a:ext>
            </a:extLst>
          </p:cNvPr>
          <p:cNvSpPr>
            <a:spLocks xmlns:a="http://schemas.openxmlformats.org/drawingml/2006/main" noGrp="1"/>
          </p:cNvSpPr>
          <p:nvPr/>
        </p:nvSpPr>
        <p:spPr>
          <a:xfrm xmlns:a="http://schemas.openxmlformats.org/drawingml/2006/main">
            <a:off x="628650" y="271462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The same request key reuses its result.</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Conflicting quantities are rejected.</a:t>
            </a:r>
          </a:p>
        </p:txBody>
      </p:sp>
      <p:sp>
        <p:nvSpPr>
          <p:cNvPr id="4" name="s6-text3">
            <a:extLst xmlns:a="http://schemas.openxmlformats.org/drawingml/2006/main">
              <a:ext uri="{FF2B5EF4-FFF2-40B4-BE49-F238E27FC236}">
                <a16:creationId xmlns:a16="http://schemas.microsoft.com/office/drawing/2014/main" id="{86BEAF61-C130-4D41-9889-E26B10E37D96}"/>
              </a:ext>
            </a:extLst>
          </p:cNvPr>
          <p:cNvSpPr>
            <a:spLocks xmlns:a="http://schemas.openxmlformats.org/drawingml/2006/main" noGrp="1"/>
          </p:cNvSpPr>
          <p:nvPr/>
        </p:nvSpPr>
        <p:spPr>
          <a:xfrm xmlns:a="http://schemas.openxmlformats.org/drawingml/2006/main">
            <a:off x="6581775" y="21145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AF264"/>
                </a:solidFill>
                <a:latin typeface="Arial"/>
                <a:ea typeface="Arial"/>
                <a:cs typeface="Arial"/>
              </a:defRPr>
            </a:pPr>
            <a:r>
              <a:rPr sz="2550" b="1">
                <a:solidFill>
                  <a:srgbClr val="BAF264"/>
                </a:solidFill>
                <a:latin typeface="Arial"/>
                <a:ea typeface="Arial"/>
                <a:cs typeface="Arial"/>
              </a:rPr>
              <a:t>Balanced transfers</a:t>
            </a:r>
          </a:p>
        </p:txBody>
      </p:sp>
      <p:sp>
        <p:nvSpPr>
          <p:cNvPr id="5" name="s6-text4">
            <a:extLst xmlns:a="http://schemas.openxmlformats.org/drawingml/2006/main">
              <a:ext uri="{FF2B5EF4-FFF2-40B4-BE49-F238E27FC236}">
                <a16:creationId xmlns:a16="http://schemas.microsoft.com/office/drawing/2014/main" id="{D67E6261-862D-4A26-95AE-78F25AE1DBA1}"/>
              </a:ext>
            </a:extLst>
          </p:cNvPr>
          <p:cNvSpPr>
            <a:spLocks xmlns:a="http://schemas.openxmlformats.org/drawingml/2006/main" noGrp="1"/>
          </p:cNvSpPr>
          <p:nvPr/>
        </p:nvSpPr>
        <p:spPr>
          <a:xfrm xmlns:a="http://schemas.openxmlformats.org/drawingml/2006/main">
            <a:off x="6581775" y="271462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Source and destination entries</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commit in the same transaction.</a:t>
            </a:r>
          </a:p>
        </p:txBody>
      </p:sp>
      <p:sp>
        <p:nvSpPr>
          <p:cNvPr id="6" name="s6-text5">
            <a:extLst xmlns:a="http://schemas.openxmlformats.org/drawingml/2006/main">
              <a:ext uri="{FF2B5EF4-FFF2-40B4-BE49-F238E27FC236}">
                <a16:creationId xmlns:a16="http://schemas.microsoft.com/office/drawing/2014/main" id="{40402BDB-07B9-49F5-B005-922A9AA4258D}"/>
              </a:ext>
            </a:extLst>
          </p:cNvPr>
          <p:cNvSpPr>
            <a:spLocks xmlns:a="http://schemas.openxmlformats.org/drawingml/2006/main" noGrp="1"/>
          </p:cNvSpPr>
          <p:nvPr/>
        </p:nvSpPr>
        <p:spPr>
          <a:xfrm xmlns:a="http://schemas.openxmlformats.org/drawingml/2006/main">
            <a:off x="628650" y="41910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AF264"/>
                </a:solidFill>
                <a:latin typeface="Arial"/>
                <a:ea typeface="Arial"/>
                <a:cs typeface="Arial"/>
              </a:defRPr>
            </a:pPr>
            <a:r>
              <a:rPr sz="2550" b="1">
                <a:solidFill>
                  <a:srgbClr val="BAF264"/>
                </a:solidFill>
                <a:latin typeface="Arial"/>
                <a:ea typeface="Arial"/>
                <a:cs typeface="Arial"/>
              </a:rPr>
              <a:t>Fresh counts</a:t>
            </a:r>
          </a:p>
        </p:txBody>
      </p:sp>
      <p:sp>
        <p:nvSpPr>
          <p:cNvPr id="7" name="s6-text6">
            <a:extLst xmlns:a="http://schemas.openxmlformats.org/drawingml/2006/main">
              <a:ext uri="{FF2B5EF4-FFF2-40B4-BE49-F238E27FC236}">
                <a16:creationId xmlns:a16="http://schemas.microsoft.com/office/drawing/2014/main" id="{FA7D30A1-76D5-4DE2-82B0-68F30C5C8D3E}"/>
              </a:ext>
            </a:extLst>
          </p:cNvPr>
          <p:cNvSpPr>
            <a:spLocks xmlns:a="http://schemas.openxmlformats.org/drawingml/2006/main" noGrp="1"/>
          </p:cNvSpPr>
          <p:nvPr/>
        </p:nvSpPr>
        <p:spPr>
          <a:xfrm xmlns:a="http://schemas.openxmlformats.org/drawingml/2006/main">
            <a:off x="628650" y="479107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Intervening movements invalidate</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a stale physical count.</a:t>
            </a:r>
          </a:p>
        </p:txBody>
      </p:sp>
      <p:sp>
        <p:nvSpPr>
          <p:cNvPr id="8" name="s6-text7">
            <a:extLst xmlns:a="http://schemas.openxmlformats.org/drawingml/2006/main">
              <a:ext uri="{FF2B5EF4-FFF2-40B4-BE49-F238E27FC236}">
                <a16:creationId xmlns:a16="http://schemas.microsoft.com/office/drawing/2014/main" id="{1F352D34-7F50-4E19-B77B-9D7855EE417D}"/>
              </a:ext>
            </a:extLst>
          </p:cNvPr>
          <p:cNvSpPr>
            <a:spLocks xmlns:a="http://schemas.openxmlformats.org/drawingml/2006/main" noGrp="1"/>
          </p:cNvSpPr>
          <p:nvPr/>
        </p:nvSpPr>
        <p:spPr>
          <a:xfrm xmlns:a="http://schemas.openxmlformats.org/drawingml/2006/main">
            <a:off x="6581775" y="41910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AF264"/>
                </a:solidFill>
                <a:latin typeface="Arial"/>
                <a:ea typeface="Arial"/>
                <a:cs typeface="Arial"/>
              </a:defRPr>
            </a:pPr>
            <a:r>
              <a:rPr sz="2550" b="1">
                <a:solidFill>
                  <a:srgbClr val="BAF264"/>
                </a:solidFill>
                <a:latin typeface="Arial"/>
                <a:ea typeface="Arial"/>
                <a:cs typeface="Arial"/>
              </a:rPr>
              <a:t>Protected reservations</a:t>
            </a:r>
          </a:p>
        </p:txBody>
      </p:sp>
      <p:sp>
        <p:nvSpPr>
          <p:cNvPr id="9" name="s6-text8">
            <a:extLst xmlns:a="http://schemas.openxmlformats.org/drawingml/2006/main">
              <a:ext uri="{FF2B5EF4-FFF2-40B4-BE49-F238E27FC236}">
                <a16:creationId xmlns:a16="http://schemas.microsoft.com/office/drawing/2014/main" id="{ED9790EA-E2B0-4EBC-9DCA-FA52AE05E0EA}"/>
              </a:ext>
            </a:extLst>
          </p:cNvPr>
          <p:cNvSpPr>
            <a:spLocks xmlns:a="http://schemas.openxmlformats.org/drawingml/2006/main" noGrp="1"/>
          </p:cNvSpPr>
          <p:nvPr/>
        </p:nvSpPr>
        <p:spPr>
          <a:xfrm xmlns:a="http://schemas.openxmlformats.org/drawingml/2006/main">
            <a:off x="6581775" y="479107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A count cannot reduce on-hand stock</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below active commitments.</a:t>
            </a:r>
          </a:p>
        </p:txBody>
      </p:sp>
    </p:spTree>
    <p:transition spd="med" advClick="1">
      <p:fade/>
    </p:transition>
    <p:extLst>
      <p:ext uri="{BB962C8B-B14F-4D97-AF65-F5344CB8AC3E}">
        <p14:creationId xmlns:p14="http://schemas.microsoft.com/office/powerpoint/2010/main" val="1699418033"/>
      </p:ext>
    </p:extLst>
  </p:cSld>
</p:sld>
</file>

<file path=ppt/slides/slide7.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7" name="s7-text0">
            <a:extLst xmlns:a="http://schemas.openxmlformats.org/drawingml/2006/main">
              <a:ext uri="{FF2B5EF4-FFF2-40B4-BE49-F238E27FC236}">
                <a16:creationId xmlns:a16="http://schemas.microsoft.com/office/drawing/2014/main" id="{12606594-7BDE-49AD-B010-0C59C994D64C}"/>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Answers grounded in inventory</a:t>
            </a:r>
          </a:p>
        </p:txBody>
      </p:sp>
      <p:sp>
        <p:nvSpPr>
          <p:cNvPr id="2" name="s7-text1">
            <a:extLst xmlns:a="http://schemas.openxmlformats.org/drawingml/2006/main">
              <a:ext uri="{FF2B5EF4-FFF2-40B4-BE49-F238E27FC236}">
                <a16:creationId xmlns:a16="http://schemas.microsoft.com/office/drawing/2014/main" id="{CF5261EF-360D-406F-9F8A-463A2DD27749}"/>
              </a:ext>
            </a:extLst>
          </p:cNvPr>
          <p:cNvSpPr>
            <a:spLocks xmlns:a="http://schemas.openxmlformats.org/drawingml/2006/main" noGrp="1"/>
          </p:cNvSpPr>
          <p:nvPr/>
        </p:nvSpPr>
        <p:spPr>
          <a:xfrm xmlns:a="http://schemas.openxmlformats.org/drawingml/2006/main">
            <a:off x="628650" y="20764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F2D"/>
                </a:solidFill>
                <a:latin typeface="Arial"/>
                <a:ea typeface="Arial"/>
                <a:cs typeface="Arial"/>
              </a:defRPr>
            </a:pPr>
            <a:r>
              <a:rPr sz="2250" b="1">
                <a:solidFill>
                  <a:srgbClr val="102F2D"/>
                </a:solidFill>
                <a:latin typeface="Arial"/>
                <a:ea typeface="Arial"/>
                <a:cs typeface="Arial"/>
              </a:rPr>
              <a:t>Stock facts first</a:t>
            </a:r>
          </a:p>
        </p:txBody>
      </p:sp>
      <p:sp>
        <p:nvSpPr>
          <p:cNvPr id="3" name="s7-text2">
            <a:extLst xmlns:a="http://schemas.openxmlformats.org/drawingml/2006/main">
              <a:ext uri="{FF2B5EF4-FFF2-40B4-BE49-F238E27FC236}">
                <a16:creationId xmlns:a16="http://schemas.microsoft.com/office/drawing/2014/main" id="{DAADE935-C955-4439-B5A9-98443A4D652A}"/>
              </a:ext>
            </a:extLst>
          </p:cNvPr>
          <p:cNvSpPr>
            <a:spLocks xmlns:a="http://schemas.openxmlformats.org/drawingml/2006/main" noGrp="1"/>
          </p:cNvSpPr>
          <p:nvPr/>
        </p:nvSpPr>
        <p:spPr>
          <a:xfrm xmlns:a="http://schemas.openxmlformats.org/drawingml/2006/main">
            <a:off x="628650" y="2609850"/>
            <a:ext cx="3333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5"/>
                </a:solidFill>
                <a:latin typeface="Arial"/>
                <a:ea typeface="Arial"/>
                <a:cs typeface="Arial"/>
              </a:defRPr>
            </a:pPr>
            <a:r>
              <a:rPr sz="1950" b="0">
                <a:solidFill>
                  <a:srgbClr val="5B7065"/>
                </a:solidFill>
                <a:latin typeface="Arial"/>
                <a:ea typeface="Arial"/>
                <a:cs typeface="Arial"/>
              </a:rPr>
              <a:t>Availability, reorder points and recent movements inform the answer.</a:t>
            </a:r>
          </a:p>
        </p:txBody>
      </p:sp>
      <p:sp>
        <p:nvSpPr>
          <p:cNvPr id="4" name="s7-text3">
            <a:extLst xmlns:a="http://schemas.openxmlformats.org/drawingml/2006/main">
              <a:ext uri="{FF2B5EF4-FFF2-40B4-BE49-F238E27FC236}">
                <a16:creationId xmlns:a16="http://schemas.microsoft.com/office/drawing/2014/main" id="{2AAA3A52-F376-46EC-8D38-4F26EC287727}"/>
              </a:ext>
            </a:extLst>
          </p:cNvPr>
          <p:cNvSpPr>
            <a:spLocks xmlns:a="http://schemas.openxmlformats.org/drawingml/2006/main" noGrp="1"/>
          </p:cNvSpPr>
          <p:nvPr/>
        </p:nvSpPr>
        <p:spPr>
          <a:xfrm xmlns:a="http://schemas.openxmlformats.org/drawingml/2006/main">
            <a:off x="628650" y="43624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74"/>
                </a:solidFill>
                <a:latin typeface="Arial"/>
                <a:ea typeface="Arial"/>
                <a:cs typeface="Arial"/>
              </a:defRPr>
            </a:pPr>
            <a:r>
              <a:rPr sz="2250" b="1">
                <a:solidFill>
                  <a:srgbClr val="087F74"/>
                </a:solidFill>
                <a:latin typeface="Arial"/>
                <a:ea typeface="Arial"/>
                <a:cs typeface="Arial"/>
              </a:rPr>
              <a:t>Rules work locally</a:t>
            </a:r>
          </a:p>
        </p:txBody>
      </p:sp>
      <p:sp>
        <p:nvSpPr>
          <p:cNvPr id="5" name="s7-text4">
            <a:extLst xmlns:a="http://schemas.openxmlformats.org/drawingml/2006/main">
              <a:ext uri="{FF2B5EF4-FFF2-40B4-BE49-F238E27FC236}">
                <a16:creationId xmlns:a16="http://schemas.microsoft.com/office/drawing/2014/main" id="{5F834145-4536-40EB-8501-C1587EE9F173}"/>
              </a:ext>
            </a:extLst>
          </p:cNvPr>
          <p:cNvSpPr>
            <a:spLocks xmlns:a="http://schemas.openxmlformats.org/drawingml/2006/main" noGrp="1"/>
          </p:cNvSpPr>
          <p:nvPr/>
        </p:nvSpPr>
        <p:spPr>
          <a:xfrm xmlns:a="http://schemas.openxmlformats.org/drawingml/2006/main">
            <a:off x="628650" y="48863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5"/>
                </a:solidFill>
                <a:latin typeface="Arial"/>
                <a:ea typeface="Arial"/>
                <a:cs typeface="Arial"/>
              </a:defRPr>
            </a:pPr>
            <a:r>
              <a:rPr sz="1950" b="0">
                <a:solidFill>
                  <a:srgbClr val="5B7065"/>
                </a:solidFill>
                <a:latin typeface="Arial"/>
                <a:ea typeface="Arial"/>
                <a:cs typeface="Arial"/>
              </a:rPr>
              <a:t>Optional AI explanations.</a:t>
            </a:r>
          </a:p>
          <a:p xmlns:a="http://schemas.openxmlformats.org/drawingml/2006/main">
            <a:pPr>
              <a:defRPr sz="1950" b="0">
                <a:solidFill>
                  <a:srgbClr val="5B7065"/>
                </a:solidFill>
                <a:latin typeface="Arial"/>
                <a:ea typeface="Arial"/>
                <a:cs typeface="Arial"/>
              </a:defRPr>
            </a:pPr>
            <a:r>
              <a:rPr sz="1950" b="0">
                <a:solidFill>
                  <a:srgbClr val="5B7065"/>
                </a:solidFill>
                <a:latin typeface="Arial"/>
                <a:ea typeface="Arial"/>
                <a:cs typeface="Arial"/>
              </a:rPr>
              <a:t>Human approval for posting.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230e473c1c74806"/>
          <a:stretch xmlns:a="http://schemas.openxmlformats.org/drawingml/2006/main"/>
        </p:blipFill>
        <p:spPr>
          <a:xfrm xmlns:a="http://schemas.openxmlformats.org/drawingml/2006/main">
            <a:off x="4912437" y="1876425"/>
            <a:ext cx="6148552" cy="4457700"/>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402216869"/>
      </p:ext>
    </p:extLst>
  </p:cSld>
</p:sld>
</file>

<file path=ppt/slides/slide8.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sp>
        <p:nvSpPr>
          <p:cNvPr id="11" name="s8-text0">
            <a:extLst xmlns:a="http://schemas.openxmlformats.org/drawingml/2006/main">
              <a:ext uri="{FF2B5EF4-FFF2-40B4-BE49-F238E27FC236}">
                <a16:creationId xmlns:a16="http://schemas.microsoft.com/office/drawing/2014/main" id="{A00A0419-87A6-4723-B997-93E0C168339F}"/>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6ED"/>
                </a:solidFill>
                <a:latin typeface="Arial"/>
                <a:ea typeface="Arial"/>
                <a:cs typeface="Arial"/>
              </a:defRPr>
            </a:pPr>
            <a:r>
              <a:rPr sz="3600" b="1">
                <a:solidFill>
                  <a:srgbClr val="F4F6ED"/>
                </a:solidFill>
                <a:latin typeface="Arial"/>
                <a:ea typeface="Arial"/>
                <a:cs typeface="Arial"/>
              </a:rPr>
              <a:t>Built and checked</a:t>
            </a:r>
          </a:p>
        </p:txBody>
      </p:sp>
      <p:sp>
        <p:nvSpPr>
          <p:cNvPr id="2" name="s8-text1">
            <a:extLst xmlns:a="http://schemas.openxmlformats.org/drawingml/2006/main">
              <a:ext uri="{FF2B5EF4-FFF2-40B4-BE49-F238E27FC236}">
                <a16:creationId xmlns:a16="http://schemas.microsoft.com/office/drawing/2014/main" id="{B3FF9721-39DF-41FC-B8D0-D8BBBD531964}"/>
              </a:ext>
            </a:extLst>
          </p:cNvPr>
          <p:cNvSpPr>
            <a:spLocks xmlns:a="http://schemas.openxmlformats.org/drawingml/2006/main" noGrp="1"/>
          </p:cNvSpPr>
          <p:nvPr/>
        </p:nvSpPr>
        <p:spPr>
          <a:xfrm xmlns:a="http://schemas.openxmlformats.org/drawingml/2006/main">
            <a:off x="628650" y="209550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0" b="1">
                <a:solidFill>
                  <a:srgbClr val="BAF264"/>
                </a:solidFill>
                <a:latin typeface="Arial"/>
                <a:ea typeface="Arial"/>
                <a:cs typeface="Arial"/>
              </a:defRPr>
            </a:pPr>
            <a:r>
              <a:rPr sz="8250" b="1">
                <a:solidFill>
                  <a:srgbClr val="BAF264"/>
                </a:solidFill>
                <a:latin typeface="Arial"/>
                <a:ea typeface="Arial"/>
                <a:cs typeface="Arial"/>
              </a:rPr>
              <a:t>27</a:t>
            </a:r>
          </a:p>
        </p:txBody>
      </p:sp>
      <p:sp>
        <p:nvSpPr>
          <p:cNvPr id="3" name="s8-text2">
            <a:extLst xmlns:a="http://schemas.openxmlformats.org/drawingml/2006/main">
              <a:ext uri="{FF2B5EF4-FFF2-40B4-BE49-F238E27FC236}">
                <a16:creationId xmlns:a16="http://schemas.microsoft.com/office/drawing/2014/main" id="{F2A048F4-1EF5-4C7F-87FF-D6A1E64C0A0D}"/>
              </a:ext>
            </a:extLst>
          </p:cNvPr>
          <p:cNvSpPr>
            <a:spLocks xmlns:a="http://schemas.openxmlformats.org/drawingml/2006/main" noGrp="1"/>
          </p:cNvSpPr>
          <p:nvPr/>
        </p:nvSpPr>
        <p:spPr>
          <a:xfrm xmlns:a="http://schemas.openxmlformats.org/drawingml/2006/main">
            <a:off x="657225" y="355282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4F6ED"/>
                </a:solidFill>
                <a:latin typeface="Arial"/>
                <a:ea typeface="Arial"/>
                <a:cs typeface="Arial"/>
              </a:defRPr>
            </a:pPr>
            <a:r>
              <a:rPr sz="1950" b="0">
                <a:solidFill>
                  <a:srgbClr val="F4F6ED"/>
                </a:solidFill>
                <a:latin typeface="Arial"/>
                <a:ea typeface="Arial"/>
                <a:cs typeface="Arial"/>
              </a:rPr>
              <a:t>security regression groups</a:t>
            </a:r>
          </a:p>
        </p:txBody>
      </p:sp>
      <p:sp>
        <p:nvSpPr>
          <p:cNvPr id="4" name="s8-text3">
            <a:extLst xmlns:a="http://schemas.openxmlformats.org/drawingml/2006/main">
              <a:ext uri="{FF2B5EF4-FFF2-40B4-BE49-F238E27FC236}">
                <a16:creationId xmlns:a16="http://schemas.microsoft.com/office/drawing/2014/main" id="{A2A04548-095A-40F4-9E0C-DC7667061A83}"/>
              </a:ext>
            </a:extLst>
          </p:cNvPr>
          <p:cNvSpPr>
            <a:spLocks xmlns:a="http://schemas.openxmlformats.org/drawingml/2006/main" noGrp="1"/>
          </p:cNvSpPr>
          <p:nvPr/>
        </p:nvSpPr>
        <p:spPr>
          <a:xfrm xmlns:a="http://schemas.openxmlformats.org/drawingml/2006/main">
            <a:off x="4581525" y="209550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0" b="1">
                <a:solidFill>
                  <a:srgbClr val="BAF264"/>
                </a:solidFill>
                <a:latin typeface="Arial"/>
                <a:ea typeface="Arial"/>
                <a:cs typeface="Arial"/>
              </a:defRPr>
            </a:pPr>
            <a:r>
              <a:rPr sz="8250" b="1">
                <a:solidFill>
                  <a:srgbClr val="BAF264"/>
                </a:solidFill>
                <a:latin typeface="Arial"/>
                <a:ea typeface="Arial"/>
                <a:cs typeface="Arial"/>
              </a:rPr>
              <a:t>14</a:t>
            </a:r>
          </a:p>
        </p:txBody>
      </p:sp>
      <p:sp>
        <p:nvSpPr>
          <p:cNvPr id="5" name="s8-text4">
            <a:extLst xmlns:a="http://schemas.openxmlformats.org/drawingml/2006/main">
              <a:ext uri="{FF2B5EF4-FFF2-40B4-BE49-F238E27FC236}">
                <a16:creationId xmlns:a16="http://schemas.microsoft.com/office/drawing/2014/main" id="{183FA4BA-2CBE-4FF6-A323-93A54AEBBB59}"/>
              </a:ext>
            </a:extLst>
          </p:cNvPr>
          <p:cNvSpPr>
            <a:spLocks xmlns:a="http://schemas.openxmlformats.org/drawingml/2006/main" noGrp="1"/>
          </p:cNvSpPr>
          <p:nvPr/>
        </p:nvSpPr>
        <p:spPr>
          <a:xfrm xmlns:a="http://schemas.openxmlformats.org/drawingml/2006/main">
            <a:off x="4610100" y="355282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4F6ED"/>
                </a:solidFill>
                <a:latin typeface="Arial"/>
                <a:ea typeface="Arial"/>
                <a:cs typeface="Arial"/>
              </a:defRPr>
            </a:pPr>
            <a:r>
              <a:rPr sz="1950" b="0">
                <a:solidFill>
                  <a:srgbClr val="F4F6ED"/>
                </a:solidFill>
                <a:latin typeface="Arial"/>
                <a:ea typeface="Arial"/>
                <a:cs typeface="Arial"/>
              </a:rPr>
              <a:t>production scenarios</a:t>
            </a:r>
          </a:p>
        </p:txBody>
      </p:sp>
      <p:sp>
        <p:nvSpPr>
          <p:cNvPr id="6" name="s8-text5">
            <a:extLst xmlns:a="http://schemas.openxmlformats.org/drawingml/2006/main">
              <a:ext uri="{FF2B5EF4-FFF2-40B4-BE49-F238E27FC236}">
                <a16:creationId xmlns:a16="http://schemas.microsoft.com/office/drawing/2014/main" id="{FA89713D-E46E-4522-B4AE-1CE6A276C42A}"/>
              </a:ext>
            </a:extLst>
          </p:cNvPr>
          <p:cNvSpPr>
            <a:spLocks xmlns:a="http://schemas.openxmlformats.org/drawingml/2006/main" noGrp="1"/>
          </p:cNvSpPr>
          <p:nvPr/>
        </p:nvSpPr>
        <p:spPr>
          <a:xfrm xmlns:a="http://schemas.openxmlformats.org/drawingml/2006/main">
            <a:off x="8534400" y="2095500"/>
            <a:ext cx="304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0" b="1">
                <a:solidFill>
                  <a:srgbClr val="BAF264"/>
                </a:solidFill>
                <a:latin typeface="Arial"/>
                <a:ea typeface="Arial"/>
                <a:cs typeface="Arial"/>
              </a:defRPr>
            </a:pPr>
            <a:r>
              <a:rPr sz="8250" b="1">
                <a:solidFill>
                  <a:srgbClr val="BAF264"/>
                </a:solidFill>
                <a:latin typeface="Arial"/>
                <a:ea typeface="Arial"/>
                <a:cs typeface="Arial"/>
              </a:rPr>
              <a:t>13</a:t>
            </a:r>
          </a:p>
        </p:txBody>
      </p:sp>
      <p:sp>
        <p:nvSpPr>
          <p:cNvPr id="7" name="s8-text6">
            <a:extLst xmlns:a="http://schemas.openxmlformats.org/drawingml/2006/main">
              <a:ext uri="{FF2B5EF4-FFF2-40B4-BE49-F238E27FC236}">
                <a16:creationId xmlns:a16="http://schemas.microsoft.com/office/drawing/2014/main" id="{10CAF9F3-CE3E-4E07-8B82-8F0D123A65A1}"/>
              </a:ext>
            </a:extLst>
          </p:cNvPr>
          <p:cNvSpPr>
            <a:spLocks xmlns:a="http://schemas.openxmlformats.org/drawingml/2006/main" noGrp="1"/>
          </p:cNvSpPr>
          <p:nvPr/>
        </p:nvSpPr>
        <p:spPr>
          <a:xfrm xmlns:a="http://schemas.openxmlformats.org/drawingml/2006/main">
            <a:off x="8562975" y="3552825"/>
            <a:ext cx="3000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4F6ED"/>
                </a:solidFill>
                <a:latin typeface="Arial"/>
                <a:ea typeface="Arial"/>
                <a:cs typeface="Arial"/>
              </a:defRPr>
            </a:pPr>
            <a:r>
              <a:rPr sz="1950" b="0">
                <a:solidFill>
                  <a:srgbClr val="F4F6ED"/>
                </a:solidFill>
                <a:latin typeface="Arial"/>
                <a:ea typeface="Arial"/>
                <a:cs typeface="Arial"/>
              </a:rPr>
              <a:t>browser scenarios</a:t>
            </a:r>
          </a:p>
        </p:txBody>
      </p:sp>
      <p:sp>
        <p:nvSpPr>
          <p:cNvPr id="8" name="s8-text7">
            <a:extLst xmlns:a="http://schemas.openxmlformats.org/drawingml/2006/main">
              <a:ext uri="{FF2B5EF4-FFF2-40B4-BE49-F238E27FC236}">
                <a16:creationId xmlns:a16="http://schemas.microsoft.com/office/drawing/2014/main" id="{15DF171B-43BE-4784-8720-0690A6A4F044}"/>
              </a:ext>
            </a:extLst>
          </p:cNvPr>
          <p:cNvSpPr>
            <a:spLocks xmlns:a="http://schemas.openxmlformats.org/drawingml/2006/main" noGrp="1"/>
          </p:cNvSpPr>
          <p:nvPr/>
        </p:nvSpPr>
        <p:spPr>
          <a:xfrm xmlns:a="http://schemas.openxmlformats.org/drawingml/2006/main">
            <a:off x="647700" y="50196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4F6ED"/>
                </a:solidFill>
                <a:latin typeface="Arial"/>
                <a:ea typeface="Arial"/>
                <a:cs typeface="Arial"/>
              </a:defRPr>
            </a:pPr>
            <a:r>
              <a:rPr sz="2100" b="0">
                <a:solidFill>
                  <a:srgbClr val="F4F6ED"/>
                </a:solidFill>
                <a:latin typeface="Arial"/>
                <a:ea typeface="Arial"/>
                <a:cs typeface="Arial"/>
              </a:rPr>
              <a:t>React + TypeScript   /   Express   /   SQLite</a:t>
            </a:r>
          </a:p>
        </p:txBody>
      </p:sp>
      <p:sp>
        <p:nvSpPr>
          <p:cNvPr id="9" name="s8-text8">
            <a:extLst xmlns:a="http://schemas.openxmlformats.org/drawingml/2006/main">
              <a:ext uri="{FF2B5EF4-FFF2-40B4-BE49-F238E27FC236}">
                <a16:creationId xmlns:a16="http://schemas.microsoft.com/office/drawing/2014/main" id="{A2233911-2B78-48E7-9D81-61A77115F070}"/>
              </a:ext>
            </a:extLst>
          </p:cNvPr>
          <p:cNvSpPr>
            <a:spLocks xmlns:a="http://schemas.openxmlformats.org/drawingml/2006/main" noGrp="1"/>
          </p:cNvSpPr>
          <p:nvPr/>
        </p:nvSpPr>
        <p:spPr>
          <a:xfrm xmlns:a="http://schemas.openxmlformats.org/drawingml/2006/main">
            <a:off x="647700" y="5686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5D7C5"/>
                </a:solidFill>
                <a:latin typeface="Arial"/>
                <a:ea typeface="Arial"/>
                <a:cs typeface="Arial"/>
              </a:defRPr>
            </a:pPr>
            <a:r>
              <a:rPr sz="1725" b="0">
                <a:solidFill>
                  <a:srgbClr val="C5D7C5"/>
                </a:solidFill>
                <a:latin typeface="Arial"/>
                <a:ea typeface="Arial"/>
                <a:cs typeface="Arial"/>
              </a:rPr>
              <a:t>Workflow smoke tests, build and dependency audit also checked.</a:t>
            </a:r>
          </a:p>
        </p:txBody>
      </p:sp>
      <p:sp>
        <p:nvSpPr>
          <p:cNvPr id="10" name="s8-text9">
            <a:extLst xmlns:a="http://schemas.openxmlformats.org/drawingml/2006/main">
              <a:ext uri="{FF2B5EF4-FFF2-40B4-BE49-F238E27FC236}">
                <a16:creationId xmlns:a16="http://schemas.microsoft.com/office/drawing/2014/main" id="{1AE1E95D-12F6-4351-BFA1-4877EE21AF94}"/>
              </a:ext>
            </a:extLst>
          </p:cNvPr>
          <p:cNvSpPr>
            <a:spLocks xmlns:a="http://schemas.openxmlformats.org/drawingml/2006/main" noGrp="1"/>
          </p:cNvSpPr>
          <p:nvPr/>
        </p:nvSpPr>
        <p:spPr>
          <a:xfrm xmlns:a="http://schemas.openxmlformats.org/drawingml/2006/main">
            <a:off x="609600" y="6210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7C5"/>
                </a:solidFill>
                <a:latin typeface="Arial"/>
                <a:ea typeface="Arial"/>
                <a:cs typeface="Arial"/>
              </a:defRPr>
            </a:pPr>
            <a:r>
              <a:rPr sz="1275" b="0">
                <a:solidFill>
                  <a:srgbClr val="C5D7C5"/>
                </a:solidFill>
                <a:latin typeface="Arial"/>
                <a:ea typeface="Arial"/>
                <a:cs typeface="Arial"/>
              </a:rPr>
              <a:t>Local automated checks. Scope and remaining limits appear in the verification report.</a:t>
            </a:r>
          </a:p>
        </p:txBody>
      </p:sp>
    </p:spTree>
    <p:transition spd="med" advClick="1">
      <p:fade/>
    </p:transition>
    <p:extLst>
      <p:ext uri="{BB962C8B-B14F-4D97-AF65-F5344CB8AC3E}">
        <p14:creationId xmlns:p14="http://schemas.microsoft.com/office/powerpoint/2010/main" val="2143901329"/>
      </p:ext>
    </p:extLst>
  </p:cSld>
</p:sld>
</file>

<file path=ppt/slides/slide9.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6" name="s9-text0">
            <a:extLst xmlns:a="http://schemas.openxmlformats.org/drawingml/2006/main">
              <a:ext uri="{FF2B5EF4-FFF2-40B4-BE49-F238E27FC236}">
                <a16:creationId xmlns:a16="http://schemas.microsoft.com/office/drawing/2014/main" id="{39CA993B-A805-448C-8B20-7C57D93D2AB7}"/>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A pilot with measurable outcomes</a:t>
            </a:r>
          </a:p>
        </p:txBody>
      </p:sp>
      <p:sp>
        <p:nvSpPr>
          <p:cNvPr id="2" name="s9-text1">
            <a:extLst xmlns:a="http://schemas.openxmlformats.org/drawingml/2006/main">
              <a:ext uri="{FF2B5EF4-FFF2-40B4-BE49-F238E27FC236}">
                <a16:creationId xmlns:a16="http://schemas.microsoft.com/office/drawing/2014/main" id="{A759A77A-E5A6-4BDE-8F77-3ED7AFC15352}"/>
              </a:ext>
            </a:extLst>
          </p:cNvPr>
          <p:cNvSpPr>
            <a:spLocks xmlns:a="http://schemas.openxmlformats.org/drawingml/2006/main" noGrp="1"/>
          </p:cNvSpPr>
          <p:nvPr/>
        </p:nvSpPr>
        <p:spPr>
          <a:xfrm xmlns:a="http://schemas.openxmlformats.org/drawingml/2006/main">
            <a:off x="628650" y="18192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74"/>
                </a:solidFill>
                <a:latin typeface="Arial"/>
                <a:ea typeface="Arial"/>
                <a:cs typeface="Arial"/>
              </a:defRPr>
            </a:pPr>
            <a:r>
              <a:rPr sz="2025" b="1">
                <a:solidFill>
                  <a:srgbClr val="087F74"/>
                </a:solidFill>
                <a:latin typeface="Arial"/>
                <a:ea typeface="Arial"/>
                <a:cs typeface="Arial"/>
              </a:rPr>
              <a:t>Proposed first users</a:t>
            </a:r>
          </a:p>
        </p:txBody>
      </p:sp>
      <p:sp>
        <p:nvSpPr>
          <p:cNvPr id="3" name="s9-text2">
            <a:extLst xmlns:a="http://schemas.openxmlformats.org/drawingml/2006/main">
              <a:ext uri="{FF2B5EF4-FFF2-40B4-BE49-F238E27FC236}">
                <a16:creationId xmlns:a16="http://schemas.microsoft.com/office/drawing/2014/main" id="{44577DC6-382E-496F-ABC0-483D62CB3159}"/>
              </a:ext>
            </a:extLst>
          </p:cNvPr>
          <p:cNvSpPr>
            <a:spLocks xmlns:a="http://schemas.openxmlformats.org/drawingml/2006/main" noGrp="1"/>
          </p:cNvSpPr>
          <p:nvPr/>
        </p:nvSpPr>
        <p:spPr>
          <a:xfrm xmlns:a="http://schemas.openxmlformats.org/drawingml/2006/main">
            <a:off x="628650" y="2400300"/>
            <a:ext cx="1052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02F2D"/>
                </a:solidFill>
                <a:latin typeface="Arial"/>
                <a:ea typeface="Arial"/>
                <a:cs typeface="Arial"/>
              </a:defRPr>
            </a:pPr>
            <a:r>
              <a:rPr sz="3150" b="1">
                <a:solidFill>
                  <a:srgbClr val="102F2D"/>
                </a:solidFill>
                <a:latin typeface="Arial"/>
                <a:ea typeface="Arial"/>
                <a:cs typeface="Arial"/>
              </a:rPr>
              <a:t>Small warehouse teams with frequent stock handoffs</a:t>
            </a:r>
          </a:p>
        </p:txBody>
      </p:sp>
      <p:graphicFrame>
        <p:nvGraphicFramePr>
          <p:cNvPr id="9" name=""/>
          <p:cNvGraphicFramePr/>
          <p:nvPr/>
        </p:nvGraphicFramePr>
        <p:xfrm>
          <a:off xmlns:a="http://schemas.openxmlformats.org/drawingml/2006/main" x="628650" y="3486150"/>
          <a:ext xmlns:a="http://schemas.openxmlformats.org/drawingml/2006/main" cx="10934700" cy="2381250"/>
        </p:xfrm>
        <a:graphic xmlns:a="http://schemas.openxmlformats.org/drawingml/2006/main">
          <a:graphicData uri="http://schemas.openxmlformats.org/drawingml/2006/table">
            <a:tbl>
              <a:tblPr/>
              <a:tblGrid>
                <a:gridCol w="3762375"/>
                <a:gridCol w="7172325"/>
              </a:tblGrid>
              <a:tr h="595313">
                <a:tc>
                  <a:txBody>
                    <a:bodyPr>
                      <a:noAutofit/>
                    </a:bodyPr>
                    <a:lstStyle/>
                    <a:p>
                      <a:r>
                        <a:rPr sz="1725" b="1">
                          <a:solidFill>
                            <a:srgbClr val="F4F6ED"/>
                          </a:solidFill>
                          <a:latin typeface="Arial"/>
                          <a:ea typeface="Arial"/>
                          <a:cs typeface="Arial"/>
                        </a:rPr>
                        <a:t>Measure</a:t>
                      </a:r>
                    </a:p>
                  </a:txBody>
                  <a:tcPr marL="91440" marR="91440" marT="45720" marB="45720">
                    <a:solidFill>
                      <a:srgbClr val="102F2D"/>
                    </a:solidFill>
                  </a:tcPr>
                </a:tc>
                <a:tc>
                  <a:txBody>
                    <a:bodyPr>
                      <a:noAutofit/>
                    </a:bodyPr>
                    <a:lstStyle/>
                    <a:p>
                      <a:r>
                        <a:rPr sz="1725" b="1">
                          <a:solidFill>
                            <a:srgbClr val="F4F6ED"/>
                          </a:solidFill>
                          <a:latin typeface="Arial"/>
                          <a:ea typeface="Arial"/>
                          <a:cs typeface="Arial"/>
                        </a:rPr>
                        <a:t>Pilot question</a:t>
                      </a:r>
                    </a:p>
                  </a:txBody>
                  <a:tcPr marL="91440" marR="91440" marT="45720" marB="45720">
                    <a:solidFill>
                      <a:srgbClr val="102F2D"/>
                    </a:solidFill>
                  </a:tcPr>
                </a:tc>
              </a:tr>
              <a:tr h="595313">
                <a:tc>
                  <a:txBody>
                    <a:bodyPr>
                      <a:noAutofit/>
                    </a:bodyPr>
                    <a:lstStyle/>
                    <a:p>
                      <a:r>
                        <a:rPr sz="1725" b="0">
                          <a:solidFill>
                            <a:srgbClr val="102F2D"/>
                          </a:solidFill>
                          <a:latin typeface="Arial"/>
                          <a:ea typeface="Arial"/>
                          <a:cs typeface="Arial"/>
                        </a:rPr>
                        <a:t>Reconciliation time</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Can the team close a count faster?</a:t>
                      </a:r>
                    </a:p>
                  </a:txBody>
                  <a:tcPr marL="91440" marR="91440" marT="45720" marB="45720">
                    <a:solidFill>
                      <a:srgbClr val="EDF2E5"/>
                    </a:solidFill>
                  </a:tcPr>
                </a:tc>
              </a:tr>
              <a:tr h="595313">
                <a:tc>
                  <a:txBody>
                    <a:bodyPr>
                      <a:noAutofit/>
                    </a:bodyPr>
                    <a:lstStyle/>
                    <a:p>
                      <a:r>
                        <a:rPr sz="1725" b="0">
                          <a:solidFill>
                            <a:srgbClr val="102F2D"/>
                          </a:solidFill>
                          <a:latin typeface="Arial"/>
                          <a:ea typeface="Arial"/>
                          <a:cs typeface="Arial"/>
                        </a:rPr>
                        <a:t>Exception turnaround</a:t>
                      </a:r>
                    </a:p>
                  </a:txBody>
                  <a:tcPr marL="91440" marR="91440" marT="45720" marB="45720">
                    <a:solidFill>
                      <a:srgbClr val="FFFFFF"/>
                    </a:solidFill>
                  </a:tcPr>
                </a:tc>
                <a:tc>
                  <a:txBody>
                    <a:bodyPr>
                      <a:noAutofit/>
                    </a:bodyPr>
                    <a:lstStyle/>
                    <a:p>
                      <a:r>
                        <a:rPr sz="1725" b="0">
                          <a:solidFill>
                            <a:srgbClr val="102F2D"/>
                          </a:solidFill>
                          <a:latin typeface="Arial"/>
                          <a:ea typeface="Arial"/>
                          <a:cs typeface="Arial"/>
                        </a:rPr>
                        <a:t>How quickly can a manager resolve a mismatch?</a:t>
                      </a:r>
                    </a:p>
                  </a:txBody>
                  <a:tcPr marL="91440" marR="91440" marT="45720" marB="45720">
                    <a:solidFill>
                      <a:srgbClr val="FFFFFF"/>
                    </a:solidFill>
                  </a:tcPr>
                </a:tc>
              </a:tr>
              <a:tr h="595313">
                <a:tc>
                  <a:txBody>
                    <a:bodyPr>
                      <a:noAutofit/>
                    </a:bodyPr>
                    <a:lstStyle/>
                    <a:p>
                      <a:r>
                        <a:rPr sz="1725" b="0">
                          <a:solidFill>
                            <a:srgbClr val="102F2D"/>
                          </a:solidFill>
                          <a:latin typeface="Arial"/>
                          <a:ea typeface="Arial"/>
                          <a:cs typeface="Arial"/>
                        </a:rPr>
                        <a:t>Movement traceability</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Can each posted quantity link to its operation?</a:t>
                      </a:r>
                    </a:p>
                  </a:txBody>
                  <a:tcPr marL="91440" marR="91440" marT="45720" marB="45720">
                    <a:solidFill>
                      <a:srgbClr val="EDF2E5"/>
                    </a:solidFill>
                  </a:tcPr>
                </a:tc>
              </a:tr>
            </a:tbl>
          </a:graphicData>
        </a:graphic>
      </p:graphicFrame>
      <p:sp>
        <p:nvSpPr>
          <p:cNvPr id="5" name="s9-text4">
            <a:extLst xmlns:a="http://schemas.openxmlformats.org/drawingml/2006/main">
              <a:ext uri="{FF2B5EF4-FFF2-40B4-BE49-F238E27FC236}">
                <a16:creationId xmlns:a16="http://schemas.microsoft.com/office/drawing/2014/main" id="{BD1017F0-5969-472F-B9A1-CEF7EAC5E7E1}"/>
              </a:ext>
            </a:extLst>
          </p:cNvPr>
          <p:cNvSpPr>
            <a:spLocks xmlns:a="http://schemas.openxmlformats.org/drawingml/2006/main" noGrp="1"/>
          </p:cNvSpPr>
          <p:nvPr/>
        </p:nvSpPr>
        <p:spPr>
          <a:xfrm xmlns:a="http://schemas.openxmlformats.org/drawingml/2006/main">
            <a:off x="609600" y="6210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5"/>
                </a:solidFill>
                <a:latin typeface="Arial"/>
                <a:ea typeface="Arial"/>
                <a:cs typeface="Arial"/>
              </a:defRPr>
            </a:pPr>
            <a:r>
              <a:rPr sz="1275" b="0">
                <a:solidFill>
                  <a:srgbClr val="5B7065"/>
                </a:solidFill>
                <a:latin typeface="Arial"/>
                <a:ea typeface="Arial"/>
                <a:cs typeface="Arial"/>
              </a:rPr>
              <a:t>Pilot proposal. No adoption, savings or customer results are claimed.</a:t>
            </a:r>
          </a:p>
        </p:txBody>
      </p:sp>
    </p:spTree>
    <p:transition spd="med" advClick="1">
      <p:fade/>
    </p:transition>
    <p:extLst>
      <p:ext uri="{BB962C8B-B14F-4D97-AF65-F5344CB8AC3E}">
        <p14:creationId xmlns:p14="http://schemas.microsoft.com/office/powerpoint/2010/main" val="30990171"/>
      </p:ext>
    </p:extLst>
  </p:cSld>
</p:sld>
</file>

<file path=ppt/slides/slide10.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11" name="s10-text0">
            <a:extLst xmlns:a="http://schemas.openxmlformats.org/drawingml/2006/main">
              <a:ext uri="{FF2B5EF4-FFF2-40B4-BE49-F238E27FC236}">
                <a16:creationId xmlns:a16="http://schemas.microsoft.com/office/drawing/2014/main" id="{86B25565-A1BA-480D-A766-A4751B70B98A}"/>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The next milestones</a:t>
            </a:r>
          </a:p>
        </p:txBody>
      </p:sp>
      <p:sp>
        <p:nvSpPr>
          <p:cNvPr id="2" name="s10-text1">
            <a:extLst xmlns:a="http://schemas.openxmlformats.org/drawingml/2006/main">
              <a:ext uri="{FF2B5EF4-FFF2-40B4-BE49-F238E27FC236}">
                <a16:creationId xmlns:a16="http://schemas.microsoft.com/office/drawing/2014/main" id="{74429F18-611D-445E-BD82-86145D020628}"/>
              </a:ext>
            </a:extLst>
          </p:cNvPr>
          <p:cNvSpPr>
            <a:spLocks xmlns:a="http://schemas.openxmlformats.org/drawingml/2006/main" noGrp="1"/>
          </p:cNvSpPr>
          <p:nvPr/>
        </p:nvSpPr>
        <p:spPr>
          <a:xfrm xmlns:a="http://schemas.openxmlformats.org/drawingml/2006/main">
            <a:off x="628650" y="2124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087F74"/>
                </a:solidFill>
                <a:latin typeface="Arial"/>
                <a:ea typeface="Arial"/>
                <a:cs typeface="Arial"/>
              </a:defRPr>
            </a:pPr>
            <a:r>
              <a:rPr sz="3000" b="1">
                <a:solidFill>
                  <a:srgbClr val="087F74"/>
                </a:solidFill>
                <a:latin typeface="Arial"/>
                <a:ea typeface="Arial"/>
                <a:cs typeface="Arial"/>
              </a:rPr>
              <a:t>01</a:t>
            </a:r>
          </a:p>
        </p:txBody>
      </p:sp>
      <p:sp>
        <p:nvSpPr>
          <p:cNvPr id="3" name="s10-text2">
            <a:extLst xmlns:a="http://schemas.openxmlformats.org/drawingml/2006/main">
              <a:ext uri="{FF2B5EF4-FFF2-40B4-BE49-F238E27FC236}">
                <a16:creationId xmlns:a16="http://schemas.microsoft.com/office/drawing/2014/main" id="{F3E64F72-2F4A-43D9-B5B7-95ED81EC8F45}"/>
              </a:ext>
            </a:extLst>
          </p:cNvPr>
          <p:cNvSpPr>
            <a:spLocks xmlns:a="http://schemas.openxmlformats.org/drawingml/2006/main" noGrp="1"/>
          </p:cNvSpPr>
          <p:nvPr/>
        </p:nvSpPr>
        <p:spPr>
          <a:xfrm xmlns:a="http://schemas.openxmlformats.org/drawingml/2006/main">
            <a:off x="1676400" y="2152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F2D"/>
                </a:solidFill>
                <a:latin typeface="Arial"/>
                <a:ea typeface="Arial"/>
                <a:cs typeface="Arial"/>
              </a:defRPr>
            </a:pPr>
            <a:r>
              <a:rPr sz="2475" b="1">
                <a:solidFill>
                  <a:srgbClr val="102F2D"/>
                </a:solidFill>
                <a:latin typeface="Arial"/>
                <a:ea typeface="Arial"/>
                <a:cs typeface="Arial"/>
              </a:rPr>
              <a:t>Validate the pilot</a:t>
            </a:r>
          </a:p>
        </p:txBody>
      </p:sp>
      <p:sp>
        <p:nvSpPr>
          <p:cNvPr id="4" name="s10-text3">
            <a:extLst xmlns:a="http://schemas.openxmlformats.org/drawingml/2006/main">
              <a:ext uri="{FF2B5EF4-FFF2-40B4-BE49-F238E27FC236}">
                <a16:creationId xmlns:a16="http://schemas.microsoft.com/office/drawing/2014/main" id="{7AE29250-AD6F-4DCD-BBF3-CC1BDAED2707}"/>
              </a:ext>
            </a:extLst>
          </p:cNvPr>
          <p:cNvSpPr>
            <a:spLocks xmlns:a="http://schemas.openxmlformats.org/drawingml/2006/main" noGrp="1"/>
          </p:cNvSpPr>
          <p:nvPr/>
        </p:nvSpPr>
        <p:spPr>
          <a:xfrm xmlns:a="http://schemas.openxmlformats.org/drawingml/2006/main">
            <a:off x="1676400" y="27146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B7065"/>
                </a:solidFill>
                <a:latin typeface="Arial"/>
                <a:ea typeface="Arial"/>
                <a:cs typeface="Arial"/>
              </a:defRPr>
            </a:pPr>
            <a:r>
              <a:rPr sz="2025" b="0">
                <a:solidFill>
                  <a:srgbClr val="5B7065"/>
                </a:solidFill>
                <a:latin typeface="Arial"/>
                <a:ea typeface="Arial"/>
                <a:cs typeface="Arial"/>
              </a:rPr>
              <a:t>Measure value and willingness to pay with a warehouse team.</a:t>
            </a:r>
          </a:p>
        </p:txBody>
      </p:sp>
      <p:sp>
        <p:nvSpPr>
          <p:cNvPr id="5" name="s10-text4">
            <a:extLst xmlns:a="http://schemas.openxmlformats.org/drawingml/2006/main">
              <a:ext uri="{FF2B5EF4-FFF2-40B4-BE49-F238E27FC236}">
                <a16:creationId xmlns:a16="http://schemas.microsoft.com/office/drawing/2014/main" id="{1387A575-1040-474A-9679-482F4EA12F7E}"/>
              </a:ext>
            </a:extLst>
          </p:cNvPr>
          <p:cNvSpPr>
            <a:spLocks xmlns:a="http://schemas.openxmlformats.org/drawingml/2006/main" noGrp="1"/>
          </p:cNvSpPr>
          <p:nvPr/>
        </p:nvSpPr>
        <p:spPr>
          <a:xfrm xmlns:a="http://schemas.openxmlformats.org/drawingml/2006/main">
            <a:off x="628650" y="3648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087F74"/>
                </a:solidFill>
                <a:latin typeface="Arial"/>
                <a:ea typeface="Arial"/>
                <a:cs typeface="Arial"/>
              </a:defRPr>
            </a:pPr>
            <a:r>
              <a:rPr sz="3000" b="1">
                <a:solidFill>
                  <a:srgbClr val="087F74"/>
                </a:solidFill>
                <a:latin typeface="Arial"/>
                <a:ea typeface="Arial"/>
                <a:cs typeface="Arial"/>
              </a:rPr>
              <a:t>02</a:t>
            </a:r>
          </a:p>
        </p:txBody>
      </p:sp>
      <p:sp>
        <p:nvSpPr>
          <p:cNvPr id="6" name="s10-text5">
            <a:extLst xmlns:a="http://schemas.openxmlformats.org/drawingml/2006/main">
              <a:ext uri="{FF2B5EF4-FFF2-40B4-BE49-F238E27FC236}">
                <a16:creationId xmlns:a16="http://schemas.microsoft.com/office/drawing/2014/main" id="{3AF0D1AF-C69B-467F-95E7-F12212CBD625}"/>
              </a:ext>
            </a:extLst>
          </p:cNvPr>
          <p:cNvSpPr>
            <a:spLocks xmlns:a="http://schemas.openxmlformats.org/drawingml/2006/main" noGrp="1"/>
          </p:cNvSpPr>
          <p:nvPr/>
        </p:nvSpPr>
        <p:spPr>
          <a:xfrm xmlns:a="http://schemas.openxmlformats.org/drawingml/2006/main">
            <a:off x="1676400" y="3676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F2D"/>
                </a:solidFill>
                <a:latin typeface="Arial"/>
                <a:ea typeface="Arial"/>
                <a:cs typeface="Arial"/>
              </a:defRPr>
            </a:pPr>
            <a:r>
              <a:rPr sz="2475" b="1">
                <a:solidFill>
                  <a:srgbClr val="102F2D"/>
                </a:solidFill>
                <a:latin typeface="Arial"/>
                <a:ea typeface="Arial"/>
                <a:cs typeface="Arial"/>
              </a:rPr>
              <a:t>Improve floor workflows</a:t>
            </a:r>
          </a:p>
        </p:txBody>
      </p:sp>
      <p:sp>
        <p:nvSpPr>
          <p:cNvPr id="7" name="s10-text6">
            <a:extLst xmlns:a="http://schemas.openxmlformats.org/drawingml/2006/main">
              <a:ext uri="{FF2B5EF4-FFF2-40B4-BE49-F238E27FC236}">
                <a16:creationId xmlns:a16="http://schemas.microsoft.com/office/drawing/2014/main" id="{ECC8EAF3-3D40-4A80-8A90-1B93F69C5AF2}"/>
              </a:ext>
            </a:extLst>
          </p:cNvPr>
          <p:cNvSpPr>
            <a:spLocks xmlns:a="http://schemas.openxmlformats.org/drawingml/2006/main" noGrp="1"/>
          </p:cNvSpPr>
          <p:nvPr/>
        </p:nvSpPr>
        <p:spPr>
          <a:xfrm xmlns:a="http://schemas.openxmlformats.org/drawingml/2006/main">
            <a:off x="1676400" y="42386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B7065"/>
                </a:solidFill>
                <a:latin typeface="Arial"/>
                <a:ea typeface="Arial"/>
                <a:cs typeface="Arial"/>
              </a:defRPr>
            </a:pPr>
            <a:r>
              <a:rPr sz="2025" b="0">
                <a:solidFill>
                  <a:srgbClr val="5B7065"/>
                </a:solidFill>
                <a:latin typeface="Arial"/>
                <a:ea typeface="Arial"/>
                <a:cs typeface="Arial"/>
              </a:rPr>
              <a:t>Barcode capture, richer reporting and larger catalogue support.</a:t>
            </a:r>
          </a:p>
        </p:txBody>
      </p:sp>
      <p:sp>
        <p:nvSpPr>
          <p:cNvPr id="8" name="s10-text7">
            <a:extLst xmlns:a="http://schemas.openxmlformats.org/drawingml/2006/main">
              <a:ext uri="{FF2B5EF4-FFF2-40B4-BE49-F238E27FC236}">
                <a16:creationId xmlns:a16="http://schemas.microsoft.com/office/drawing/2014/main" id="{44629E3F-91F3-4E02-9731-C66D0490132C}"/>
              </a:ext>
            </a:extLst>
          </p:cNvPr>
          <p:cNvSpPr>
            <a:spLocks xmlns:a="http://schemas.openxmlformats.org/drawingml/2006/main" noGrp="1"/>
          </p:cNvSpPr>
          <p:nvPr/>
        </p:nvSpPr>
        <p:spPr>
          <a:xfrm xmlns:a="http://schemas.openxmlformats.org/drawingml/2006/main">
            <a:off x="628650" y="5172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087F74"/>
                </a:solidFill>
                <a:latin typeface="Arial"/>
                <a:ea typeface="Arial"/>
                <a:cs typeface="Arial"/>
              </a:defRPr>
            </a:pPr>
            <a:r>
              <a:rPr sz="3000" b="1">
                <a:solidFill>
                  <a:srgbClr val="087F74"/>
                </a:solidFill>
                <a:latin typeface="Arial"/>
                <a:ea typeface="Arial"/>
                <a:cs typeface="Arial"/>
              </a:rPr>
              <a:t>03</a:t>
            </a:r>
          </a:p>
        </p:txBody>
      </p:sp>
      <p:sp>
        <p:nvSpPr>
          <p:cNvPr id="9" name="s10-text8">
            <a:extLst xmlns:a="http://schemas.openxmlformats.org/drawingml/2006/main">
              <a:ext uri="{FF2B5EF4-FFF2-40B4-BE49-F238E27FC236}">
                <a16:creationId xmlns:a16="http://schemas.microsoft.com/office/drawing/2014/main" id="{3DEC788A-F4F1-4770-80AB-CBEE01F7FCA0}"/>
              </a:ext>
            </a:extLst>
          </p:cNvPr>
          <p:cNvSpPr>
            <a:spLocks xmlns:a="http://schemas.openxmlformats.org/drawingml/2006/main" noGrp="1"/>
          </p:cNvSpPr>
          <p:nvPr/>
        </p:nvSpPr>
        <p:spPr>
          <a:xfrm xmlns:a="http://schemas.openxmlformats.org/drawingml/2006/main">
            <a:off x="1676400" y="5200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F2D"/>
                </a:solidFill>
                <a:latin typeface="Arial"/>
                <a:ea typeface="Arial"/>
                <a:cs typeface="Arial"/>
              </a:defRPr>
            </a:pPr>
            <a:r>
              <a:rPr sz="2475" b="1">
                <a:solidFill>
                  <a:srgbClr val="102F2D"/>
                </a:solidFill>
                <a:latin typeface="Arial"/>
                <a:ea typeface="Arial"/>
                <a:cs typeface="Arial"/>
              </a:rPr>
              <a:t>Prepare the deployment</a:t>
            </a:r>
          </a:p>
        </p:txBody>
      </p:sp>
      <p:sp>
        <p:nvSpPr>
          <p:cNvPr id="10" name="s10-text9">
            <a:extLst xmlns:a="http://schemas.openxmlformats.org/drawingml/2006/main">
              <a:ext uri="{FF2B5EF4-FFF2-40B4-BE49-F238E27FC236}">
                <a16:creationId xmlns:a16="http://schemas.microsoft.com/office/drawing/2014/main" id="{0CD8AA36-A3E5-4B65-85B9-993538428605}"/>
              </a:ext>
            </a:extLst>
          </p:cNvPr>
          <p:cNvSpPr>
            <a:spLocks xmlns:a="http://schemas.openxmlformats.org/drawingml/2006/main" noGrp="1"/>
          </p:cNvSpPr>
          <p:nvPr/>
        </p:nvSpPr>
        <p:spPr>
          <a:xfrm xmlns:a="http://schemas.openxmlformats.org/drawingml/2006/main">
            <a:off x="1676400" y="5762625"/>
            <a:ext cx="942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B7065"/>
                </a:solidFill>
                <a:latin typeface="Arial"/>
                <a:ea typeface="Arial"/>
                <a:cs typeface="Arial"/>
              </a:defRPr>
            </a:pPr>
            <a:r>
              <a:rPr sz="2025" b="0">
                <a:solidFill>
                  <a:srgbClr val="5B7065"/>
                </a:solidFill>
                <a:latin typeface="Arial"/>
                <a:ea typeface="Arial"/>
                <a:cs typeface="Arial"/>
              </a:rPr>
              <a:t>TLS, restore drills, monitoring and a plan beyond one database node.</a:t>
            </a:r>
          </a:p>
        </p:txBody>
      </p:sp>
    </p:spTree>
    <p:transition spd="med" advClick="1">
      <p:fade/>
    </p:transition>
    <p:extLst>
      <p:ext uri="{BB962C8B-B14F-4D97-AF65-F5344CB8AC3E}">
        <p14:creationId xmlns:p14="http://schemas.microsoft.com/office/powerpoint/2010/main" val="193577195"/>
      </p:ext>
    </p:extLst>
  </p:cSld>
</p:sld>
</file>

<file path=ppt/slides/slide11.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cebaffff8d94b1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b89cdb3d3924e31"/>
          <a:stretch xmlns:a="http://schemas.openxmlformats.org/drawingml/2006/main"/>
        </p:blipFill>
        <p:spPr>
          <a:xfrm xmlns:a="http://schemas.openxmlformats.org/drawingml/2006/main">
            <a:off x="628650" y="628650"/>
            <a:ext cx="533400" cy="533400"/>
          </a:xfrm>
          <a:prstGeom xmlns:a="http://schemas.openxmlformats.org/drawingml/2006/main" prst="rect">
            <a:avLst/>
          </a:prstGeom>
        </p:spPr>
      </p:pic>
      <p:sp>
        <p:nvSpPr>
          <p:cNvPr id="3" name="s11-text2">
            <a:extLst xmlns:a="http://schemas.openxmlformats.org/drawingml/2006/main">
              <a:ext uri="{FF2B5EF4-FFF2-40B4-BE49-F238E27FC236}">
                <a16:creationId xmlns:a16="http://schemas.microsoft.com/office/drawing/2014/main" id="{01D49BC9-6BD2-4B15-9E9D-42AF3A0681BC}"/>
              </a:ext>
            </a:extLst>
          </p:cNvPr>
          <p:cNvSpPr>
            <a:spLocks xmlns:a="http://schemas.openxmlformats.org/drawingml/2006/main" noGrp="1"/>
          </p:cNvSpPr>
          <p:nvPr/>
        </p:nvSpPr>
        <p:spPr>
          <a:xfrm xmlns:a="http://schemas.openxmlformats.org/drawingml/2006/main">
            <a:off x="628650" y="1914525"/>
            <a:ext cx="6381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F4F6ED"/>
                </a:solidFill>
                <a:latin typeface="Arial"/>
                <a:ea typeface="Arial"/>
                <a:cs typeface="Arial"/>
              </a:defRPr>
            </a:pPr>
            <a:r>
              <a:rPr sz="4875" b="1">
                <a:solidFill>
                  <a:srgbClr val="F4F6ED"/>
                </a:solidFill>
                <a:latin typeface="Arial"/>
                <a:ea typeface="Arial"/>
                <a:cs typeface="Arial"/>
              </a:rPr>
              <a:t>Every posted</a:t>
            </a:r>
          </a:p>
          <a:p xmlns:a="http://schemas.openxmlformats.org/drawingml/2006/main">
            <a:pPr>
              <a:defRPr sz="4875" b="1">
                <a:solidFill>
                  <a:srgbClr val="F4F6ED"/>
                </a:solidFill>
                <a:latin typeface="Arial"/>
                <a:ea typeface="Arial"/>
                <a:cs typeface="Arial"/>
              </a:defRPr>
            </a:pPr>
            <a:r>
              <a:rPr sz="4875" b="1">
                <a:solidFill>
                  <a:srgbClr val="F4F6ED"/>
                </a:solidFill>
                <a:latin typeface="Arial"/>
                <a:ea typeface="Arial"/>
                <a:cs typeface="Arial"/>
              </a:rPr>
              <a:t>movement is</a:t>
            </a:r>
          </a:p>
          <a:p xmlns:a="http://schemas.openxmlformats.org/drawingml/2006/main">
            <a:pPr>
              <a:defRPr sz="4875" b="1">
                <a:solidFill>
                  <a:srgbClr val="F4F6ED"/>
                </a:solidFill>
                <a:latin typeface="Arial"/>
                <a:ea typeface="Arial"/>
                <a:cs typeface="Arial"/>
              </a:defRPr>
            </a:pPr>
            <a:r>
              <a:rPr sz="4875" b="1">
                <a:solidFill>
                  <a:srgbClr val="F4F6ED"/>
                </a:solidFill>
                <a:latin typeface="Arial"/>
                <a:ea typeface="Arial"/>
                <a:cs typeface="Arial"/>
              </a:rPr>
              <a:t>traceable</a:t>
            </a:r>
          </a:p>
        </p:txBody>
      </p:sp>
      <p:sp>
        <p:nvSpPr>
          <p:cNvPr id="4" name="s11-text3">
            <a:extLst xmlns:a="http://schemas.openxmlformats.org/drawingml/2006/main">
              <a:ext uri="{FF2B5EF4-FFF2-40B4-BE49-F238E27FC236}">
                <a16:creationId xmlns:a16="http://schemas.microsoft.com/office/drawing/2014/main" id="{1A80297D-0CEF-4095-B752-B09C51E855AD}"/>
              </a:ext>
            </a:extLst>
          </p:cNvPr>
          <p:cNvSpPr>
            <a:spLocks xmlns:a="http://schemas.openxmlformats.org/drawingml/2006/main" noGrp="1"/>
          </p:cNvSpPr>
          <p:nvPr/>
        </p:nvSpPr>
        <p:spPr>
          <a:xfrm xmlns:a="http://schemas.openxmlformats.org/drawingml/2006/main">
            <a:off x="647700" y="48577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BAF264"/>
                </a:solidFill>
                <a:latin typeface="Arial"/>
                <a:ea typeface="Arial"/>
                <a:cs typeface="Arial"/>
              </a:defRPr>
            </a:pPr>
            <a:r>
              <a:rPr sz="3075" b="1">
                <a:solidFill>
                  <a:srgbClr val="BAF264"/>
                </a:solidFill>
                <a:latin typeface="Arial"/>
                <a:ea typeface="Arial"/>
                <a:cs typeface="Arial"/>
              </a:rPr>
              <a:t>StockSense</a:t>
            </a:r>
          </a:p>
        </p:txBody>
      </p:sp>
      <p:sp>
        <p:nvSpPr>
          <p:cNvPr id="5" name="s11-text4">
            <a:extLst xmlns:a="http://schemas.openxmlformats.org/drawingml/2006/main">
              <a:ext uri="{FF2B5EF4-FFF2-40B4-BE49-F238E27FC236}">
                <a16:creationId xmlns:a16="http://schemas.microsoft.com/office/drawing/2014/main" id="{973864E4-6D64-4C79-8CDF-0D7E8C41BF36}"/>
              </a:ext>
            </a:extLst>
          </p:cNvPr>
          <p:cNvSpPr>
            <a:spLocks xmlns:a="http://schemas.openxmlformats.org/drawingml/2006/main" noGrp="1"/>
          </p:cNvSpPr>
          <p:nvPr/>
        </p:nvSpPr>
        <p:spPr>
          <a:xfrm xmlns:a="http://schemas.openxmlformats.org/drawingml/2006/main">
            <a:off x="647700" y="58674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4F6ED"/>
                </a:solidFill>
                <a:latin typeface="Arial"/>
                <a:ea typeface="Arial"/>
                <a:cs typeface="Arial"/>
              </a:defRPr>
            </a:pPr>
            <a:r>
              <a:rPr sz="1650" b="0">
                <a:solidFill>
                  <a:srgbClr val="F4F6ED"/>
                </a:solidFill>
                <a:latin typeface="Arial"/>
                <a:ea typeface="Arial"/>
                <a:cs typeface="Arial"/>
              </a:rPr>
              <a:t>Ayush Pandey  /  Team X  /  Contact X</a:t>
            </a:r>
          </a:p>
        </p:txBody>
      </p:sp>
    </p:spTree>
    <p:transition spd="med" advClick="1">
      <p:fade/>
    </p:transition>
    <p:extLst>
      <p:ext uri="{BB962C8B-B14F-4D97-AF65-F5344CB8AC3E}">
        <p14:creationId xmlns:p14="http://schemas.microsoft.com/office/powerpoint/2010/main" val="959974502"/>
      </p:ext>
    </p:extLst>
  </p:cSld>
</p:sld>
</file>

<file path=ppt/slides/slide12.xml><?xml version="1.0" encoding="utf-8"?>
<p:sld xmlns:p="http://schemas.openxmlformats.org/presentationml/2006/main">
  <p:cSld>
    <p:bg>
      <p:bgPr>
        <a:solidFill xmlns:a="http://schemas.openxmlformats.org/drawingml/2006/main">
          <a:srgbClr val="F4F6ED"/>
        </a:solidFill>
      </p:bgPr>
    </p:bg>
    <p:spTree>
      <p:nvGrpSpPr>
        <p:cNvPr id="1" name=""/>
        <p:cNvGrpSpPr/>
        <p:nvPr/>
      </p:nvGrpSpPr>
      <p:grpSpPr>
        <a:xfrm xmlns:a="http://schemas.openxmlformats.org/drawingml/2006/main"/>
      </p:grpSpPr>
      <p:sp>
        <p:nvSpPr>
          <p:cNvPr id="4" name="s12-text0">
            <a:extLst xmlns:a="http://schemas.openxmlformats.org/drawingml/2006/main">
              <a:ext uri="{FF2B5EF4-FFF2-40B4-BE49-F238E27FC236}">
                <a16:creationId xmlns:a16="http://schemas.microsoft.com/office/drawing/2014/main" id="{B0A5B440-721D-442C-8DDB-27599BDE935C}"/>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F2D"/>
                </a:solidFill>
                <a:latin typeface="Arial"/>
                <a:ea typeface="Arial"/>
                <a:cs typeface="Arial"/>
              </a:defRPr>
            </a:pPr>
            <a:r>
              <a:rPr sz="3600" b="1">
                <a:solidFill>
                  <a:srgbClr val="102F2D"/>
                </a:solidFill>
                <a:latin typeface="Arial"/>
                <a:ea typeface="Arial"/>
                <a:cs typeface="Arial"/>
              </a:rPr>
              <a:t>Architecture</a:t>
            </a:r>
          </a:p>
        </p:txBody>
      </p:sp>
      <p:graphicFrame>
        <p:nvGraphicFramePr>
          <p:cNvPr id="5" name=""/>
          <p:cNvGraphicFramePr/>
          <p:nvPr/>
        </p:nvGraphicFramePr>
        <p:xfrm>
          <a:off xmlns:a="http://schemas.openxmlformats.org/drawingml/2006/main" x="628650" y="2095500"/>
          <a:ext xmlns:a="http://schemas.openxmlformats.org/drawingml/2006/main" cx="10934700" cy="3495675"/>
        </p:xfrm>
        <a:graphic xmlns:a="http://schemas.openxmlformats.org/drawingml/2006/main">
          <a:graphicData uri="http://schemas.openxmlformats.org/drawingml/2006/table">
            <a:tbl>
              <a:tblPr/>
              <a:tblGrid>
                <a:gridCol w="2000250"/>
                <a:gridCol w="3048000"/>
                <a:gridCol w="5886450"/>
              </a:tblGrid>
              <a:tr h="699135">
                <a:tc>
                  <a:txBody>
                    <a:bodyPr>
                      <a:noAutofit/>
                    </a:bodyPr>
                    <a:lstStyle/>
                    <a:p>
                      <a:r>
                        <a:rPr sz="1725" b="1">
                          <a:solidFill>
                            <a:srgbClr val="F4F6ED"/>
                          </a:solidFill>
                          <a:latin typeface="Arial"/>
                          <a:ea typeface="Arial"/>
                          <a:cs typeface="Arial"/>
                        </a:rPr>
                        <a:t>Layer</a:t>
                      </a:r>
                    </a:p>
                  </a:txBody>
                  <a:tcPr marL="91440" marR="91440" marT="45720" marB="45720">
                    <a:solidFill>
                      <a:srgbClr val="102F2D"/>
                    </a:solidFill>
                  </a:tcPr>
                </a:tc>
                <a:tc>
                  <a:txBody>
                    <a:bodyPr>
                      <a:noAutofit/>
                    </a:bodyPr>
                    <a:lstStyle/>
                    <a:p>
                      <a:r>
                        <a:rPr sz="1725" b="1">
                          <a:solidFill>
                            <a:srgbClr val="F4F6ED"/>
                          </a:solidFill>
                          <a:latin typeface="Arial"/>
                          <a:ea typeface="Arial"/>
                          <a:cs typeface="Arial"/>
                        </a:rPr>
                        <a:t>Technology</a:t>
                      </a:r>
                    </a:p>
                  </a:txBody>
                  <a:tcPr marL="91440" marR="91440" marT="45720" marB="45720">
                    <a:solidFill>
                      <a:srgbClr val="102F2D"/>
                    </a:solidFill>
                  </a:tcPr>
                </a:tc>
                <a:tc>
                  <a:txBody>
                    <a:bodyPr>
                      <a:noAutofit/>
                    </a:bodyPr>
                    <a:lstStyle/>
                    <a:p>
                      <a:r>
                        <a:rPr sz="1725" b="1">
                          <a:solidFill>
                            <a:srgbClr val="F4F6ED"/>
                          </a:solidFill>
                          <a:latin typeface="Arial"/>
                          <a:ea typeface="Arial"/>
                          <a:cs typeface="Arial"/>
                        </a:rPr>
                        <a:t>Responsibility</a:t>
                      </a:r>
                    </a:p>
                  </a:txBody>
                  <a:tcPr marL="91440" marR="91440" marT="45720" marB="45720">
                    <a:solidFill>
                      <a:srgbClr val="102F2D"/>
                    </a:solidFill>
                  </a:tcPr>
                </a:tc>
              </a:tr>
              <a:tr h="699135">
                <a:tc>
                  <a:txBody>
                    <a:bodyPr>
                      <a:noAutofit/>
                    </a:bodyPr>
                    <a:lstStyle/>
                    <a:p>
                      <a:r>
                        <a:rPr sz="1725" b="0">
                          <a:solidFill>
                            <a:srgbClr val="102F2D"/>
                          </a:solidFill>
                          <a:latin typeface="Arial"/>
                          <a:ea typeface="Arial"/>
                          <a:cs typeface="Arial"/>
                        </a:rPr>
                        <a:t>Client</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React + TypeScript</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Role screens, forms and accessible interactions</a:t>
                      </a:r>
                    </a:p>
                  </a:txBody>
                  <a:tcPr marL="91440" marR="91440" marT="45720" marB="45720">
                    <a:solidFill>
                      <a:srgbClr val="EDF2E5"/>
                    </a:solidFill>
                  </a:tcPr>
                </a:tc>
              </a:tr>
              <a:tr h="699135">
                <a:tc>
                  <a:txBody>
                    <a:bodyPr>
                      <a:noAutofit/>
                    </a:bodyPr>
                    <a:lstStyle/>
                    <a:p>
                      <a:r>
                        <a:rPr sz="1725" b="0">
                          <a:solidFill>
                            <a:srgbClr val="102F2D"/>
                          </a:solidFill>
                          <a:latin typeface="Arial"/>
                          <a:ea typeface="Arial"/>
                          <a:cs typeface="Arial"/>
                        </a:rPr>
                        <a:t>API</a:t>
                      </a:r>
                    </a:p>
                  </a:txBody>
                  <a:tcPr marL="91440" marR="91440" marT="45720" marB="45720">
                    <a:solidFill>
                      <a:srgbClr val="FFFFFF"/>
                    </a:solidFill>
                  </a:tcPr>
                </a:tc>
                <a:tc>
                  <a:txBody>
                    <a:bodyPr>
                      <a:noAutofit/>
                    </a:bodyPr>
                    <a:lstStyle/>
                    <a:p>
                      <a:r>
                        <a:rPr sz="1725" b="0">
                          <a:solidFill>
                            <a:srgbClr val="102F2D"/>
                          </a:solidFill>
                          <a:latin typeface="Arial"/>
                          <a:ea typeface="Arial"/>
                          <a:cs typeface="Arial"/>
                        </a:rPr>
                        <a:t>Express + Zod</a:t>
                      </a:r>
                    </a:p>
                  </a:txBody>
                  <a:tcPr marL="91440" marR="91440" marT="45720" marB="45720">
                    <a:solidFill>
                      <a:srgbClr val="FFFFFF"/>
                    </a:solidFill>
                  </a:tcPr>
                </a:tc>
                <a:tc>
                  <a:txBody>
                    <a:bodyPr>
                      <a:noAutofit/>
                    </a:bodyPr>
                    <a:lstStyle/>
                    <a:p>
                      <a:r>
                        <a:rPr sz="1725" b="0">
                          <a:solidFill>
                            <a:srgbClr val="102F2D"/>
                          </a:solidFill>
                          <a:latin typeface="Arial"/>
                          <a:ea typeface="Arial"/>
                          <a:cs typeface="Arial"/>
                        </a:rPr>
                        <a:t>Authorization, validation and stock transactions</a:t>
                      </a:r>
                    </a:p>
                  </a:txBody>
                  <a:tcPr marL="91440" marR="91440" marT="45720" marB="45720">
                    <a:solidFill>
                      <a:srgbClr val="FFFFFF"/>
                    </a:solidFill>
                  </a:tcPr>
                </a:tc>
              </a:tr>
              <a:tr h="699135">
                <a:tc>
                  <a:txBody>
                    <a:bodyPr>
                      <a:noAutofit/>
                    </a:bodyPr>
                    <a:lstStyle/>
                    <a:p>
                      <a:r>
                        <a:rPr sz="1725" b="0">
                          <a:solidFill>
                            <a:srgbClr val="102F2D"/>
                          </a:solidFill>
                          <a:latin typeface="Arial"/>
                          <a:ea typeface="Arial"/>
                          <a:cs typeface="Arial"/>
                        </a:rPr>
                        <a:t>Storage</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SQLite</a:t>
                      </a:r>
                    </a:p>
                  </a:txBody>
                  <a:tcPr marL="91440" marR="91440" marT="45720" marB="45720">
                    <a:solidFill>
                      <a:srgbClr val="EDF2E5"/>
                    </a:solidFill>
                  </a:tcPr>
                </a:tc>
                <a:tc>
                  <a:txBody>
                    <a:bodyPr>
                      <a:noAutofit/>
                    </a:bodyPr>
                    <a:lstStyle/>
                    <a:p>
                      <a:r>
                        <a:rPr sz="1725" b="0">
                          <a:solidFill>
                            <a:srgbClr val="102F2D"/>
                          </a:solidFill>
                          <a:latin typeface="Arial"/>
                          <a:ea typeface="Arial"/>
                          <a:cs typeface="Arial"/>
                        </a:rPr>
                        <a:t>Balances, operations, ledger, audit and sessions</a:t>
                      </a:r>
                    </a:p>
                  </a:txBody>
                  <a:tcPr marL="91440" marR="91440" marT="45720" marB="45720">
                    <a:solidFill>
                      <a:srgbClr val="EDF2E5"/>
                    </a:solidFill>
                  </a:tcPr>
                </a:tc>
              </a:tr>
              <a:tr h="699135">
                <a:tc>
                  <a:txBody>
                    <a:bodyPr>
                      <a:noAutofit/>
                    </a:bodyPr>
                    <a:lstStyle/>
                    <a:p>
                      <a:r>
                        <a:rPr sz="1725" b="0">
                          <a:solidFill>
                            <a:srgbClr val="102F2D"/>
                          </a:solidFill>
                          <a:latin typeface="Arial"/>
                          <a:ea typeface="Arial"/>
                          <a:cs typeface="Arial"/>
                        </a:rPr>
                        <a:t>Optional providers</a:t>
                      </a:r>
                    </a:p>
                  </a:txBody>
                  <a:tcPr marL="91440" marR="91440" marT="45720" marB="45720">
                    <a:solidFill>
                      <a:srgbClr val="FFFFFF"/>
                    </a:solidFill>
                  </a:tcPr>
                </a:tc>
                <a:tc>
                  <a:txBody>
                    <a:bodyPr>
                      <a:noAutofit/>
                    </a:bodyPr>
                    <a:lstStyle/>
                    <a:p>
                      <a:r>
                        <a:rPr sz="1725" b="0">
                          <a:solidFill>
                            <a:srgbClr val="102F2D"/>
                          </a:solidFill>
                          <a:latin typeface="Arial"/>
                          <a:ea typeface="Arial"/>
                          <a:cs typeface="Arial"/>
                        </a:rPr>
                        <a:t>OpenAI / Resend</a:t>
                      </a:r>
                    </a:p>
                  </a:txBody>
                  <a:tcPr marL="91440" marR="91440" marT="45720" marB="45720">
                    <a:solidFill>
                      <a:srgbClr val="FFFFFF"/>
                    </a:solidFill>
                  </a:tcPr>
                </a:tc>
                <a:tc>
                  <a:txBody>
                    <a:bodyPr>
                      <a:noAutofit/>
                    </a:bodyPr>
                    <a:lstStyle/>
                    <a:p>
                      <a:r>
                        <a:rPr sz="1725" b="0">
                          <a:solidFill>
                            <a:srgbClr val="102F2D"/>
                          </a:solidFill>
                          <a:latin typeface="Arial"/>
                          <a:ea typeface="Arial"/>
                          <a:cs typeface="Arial"/>
                        </a:rPr>
                        <a:t>Explanations and reset-email delivery</a:t>
                      </a:r>
                    </a:p>
                  </a:txBody>
                  <a:tcPr marL="91440" marR="91440" marT="45720" marB="45720">
                    <a:solidFill>
                      <a:srgbClr val="FFFFFF"/>
                    </a:solidFill>
                  </a:tcPr>
                </a:tc>
              </a:tr>
            </a:tbl>
          </a:graphicData>
        </a:graphic>
      </p:graphicFrame>
      <p:sp>
        <p:nvSpPr>
          <p:cNvPr id="3" name="s12-text2">
            <a:extLst xmlns:a="http://schemas.openxmlformats.org/drawingml/2006/main">
              <a:ext uri="{FF2B5EF4-FFF2-40B4-BE49-F238E27FC236}">
                <a16:creationId xmlns:a16="http://schemas.microsoft.com/office/drawing/2014/main" id="{13B61393-1C4A-4752-AE51-8A30E1809C3C}"/>
              </a:ext>
            </a:extLst>
          </p:cNvPr>
          <p:cNvSpPr>
            <a:spLocks xmlns:a="http://schemas.openxmlformats.org/drawingml/2006/main" noGrp="1"/>
          </p:cNvSpPr>
          <p:nvPr/>
        </p:nvSpPr>
        <p:spPr>
          <a:xfrm xmlns:a="http://schemas.openxmlformats.org/drawingml/2006/main">
            <a:off x="609600" y="62103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5"/>
                </a:solidFill>
                <a:latin typeface="Arial"/>
                <a:ea typeface="Arial"/>
                <a:cs typeface="Arial"/>
              </a:defRPr>
            </a:pPr>
            <a:r>
              <a:rPr sz="1275" b="0">
                <a:solidFill>
                  <a:srgbClr val="5B7065"/>
                </a:solidFill>
                <a:latin typeface="Arial"/>
                <a:ea typeface="Arial"/>
                <a:cs typeface="Arial"/>
              </a:rPr>
              <a:t>Current deployment model: one application node and one SQLite database.</a:t>
            </a:r>
          </a:p>
        </p:txBody>
      </p:sp>
    </p:spTree>
    <p:transition spd="med" advClick="1">
      <p:fade/>
    </p:transition>
    <p:extLst>
      <p:ext uri="{BB962C8B-B14F-4D97-AF65-F5344CB8AC3E}">
        <p14:creationId xmlns:p14="http://schemas.microsoft.com/office/powerpoint/2010/main" val="446972495"/>
      </p:ext>
    </p:extLst>
  </p:cSld>
</p:sld>
</file>

<file path=ppt/slides/slide13.xml><?xml version="1.0" encoding="utf-8"?>
<p:sld xmlns:p="http://schemas.openxmlformats.org/presentationml/2006/main">
  <p:cSld>
    <p:bg>
      <p:bgPr>
        <a:solidFill xmlns:a="http://schemas.openxmlformats.org/drawingml/2006/main">
          <a:srgbClr val="102F2D"/>
        </a:solidFill>
      </p:bgPr>
    </p:bg>
    <p:spTree>
      <p:nvGrpSpPr>
        <p:cNvPr id="1" name=""/>
        <p:cNvGrpSpPr/>
        <p:nvPr/>
      </p:nvGrpSpPr>
      <p:grpSpPr>
        <a:xfrm xmlns:a="http://schemas.openxmlformats.org/drawingml/2006/main"/>
      </p:grpSpPr>
      <p:sp>
        <p:nvSpPr>
          <p:cNvPr id="10" name="s13-text0">
            <a:extLst xmlns:a="http://schemas.openxmlformats.org/drawingml/2006/main">
              <a:ext uri="{FF2B5EF4-FFF2-40B4-BE49-F238E27FC236}">
                <a16:creationId xmlns:a16="http://schemas.microsoft.com/office/drawing/2014/main" id="{1C82A2BA-609E-4AE0-BCDE-2896678F34FA}"/>
              </a:ext>
            </a:extLst>
          </p:cNvPr>
          <p:cNvSpPr>
            <a:spLocks xmlns:a="http://schemas.openxmlformats.org/drawingml/2006/main" noGrp="1"/>
          </p:cNvSpPr>
          <p:nvPr/>
        </p:nvSpPr>
        <p:spPr>
          <a:xfrm xmlns:a="http://schemas.openxmlformats.org/drawingml/2006/main">
            <a:off x="609600" y="5238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6ED"/>
                </a:solidFill>
                <a:latin typeface="Arial"/>
                <a:ea typeface="Arial"/>
                <a:cs typeface="Arial"/>
              </a:defRPr>
            </a:pPr>
            <a:r>
              <a:rPr sz="3600" b="1">
                <a:solidFill>
                  <a:srgbClr val="F4F6ED"/>
                </a:solidFill>
                <a:latin typeface="Arial"/>
                <a:ea typeface="Arial"/>
                <a:cs typeface="Arial"/>
              </a:rPr>
              <a:t>Questions worth asking</a:t>
            </a:r>
          </a:p>
        </p:txBody>
      </p:sp>
      <p:sp>
        <p:nvSpPr>
          <p:cNvPr id="2" name="s13-text1">
            <a:extLst xmlns:a="http://schemas.openxmlformats.org/drawingml/2006/main">
              <a:ext uri="{FF2B5EF4-FFF2-40B4-BE49-F238E27FC236}">
                <a16:creationId xmlns:a16="http://schemas.microsoft.com/office/drawing/2014/main" id="{E11C6290-1267-4AA3-9481-9E3B8CA07253}"/>
              </a:ext>
            </a:extLst>
          </p:cNvPr>
          <p:cNvSpPr>
            <a:spLocks xmlns:a="http://schemas.openxmlformats.org/drawingml/2006/main" noGrp="1"/>
          </p:cNvSpPr>
          <p:nvPr/>
        </p:nvSpPr>
        <p:spPr>
          <a:xfrm xmlns:a="http://schemas.openxmlformats.org/drawingml/2006/main">
            <a:off x="628650" y="21145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AF264"/>
                </a:solidFill>
                <a:latin typeface="Arial"/>
                <a:ea typeface="Arial"/>
                <a:cs typeface="Arial"/>
              </a:defRPr>
            </a:pPr>
            <a:r>
              <a:rPr sz="2325" b="1">
                <a:solidFill>
                  <a:srgbClr val="BAF264"/>
                </a:solidFill>
                <a:latin typeface="Arial"/>
                <a:ea typeface="Arial"/>
                <a:cs typeface="Arial"/>
              </a:rPr>
              <a:t>How is this different?</a:t>
            </a:r>
          </a:p>
        </p:txBody>
      </p:sp>
      <p:sp>
        <p:nvSpPr>
          <p:cNvPr id="3" name="s13-text2">
            <a:extLst xmlns:a="http://schemas.openxmlformats.org/drawingml/2006/main">
              <a:ext uri="{FF2B5EF4-FFF2-40B4-BE49-F238E27FC236}">
                <a16:creationId xmlns:a16="http://schemas.microsoft.com/office/drawing/2014/main" id="{73FF6888-BDD4-4898-AA02-4FC388DED99C}"/>
              </a:ext>
            </a:extLst>
          </p:cNvPr>
          <p:cNvSpPr>
            <a:spLocks xmlns:a="http://schemas.openxmlformats.org/drawingml/2006/main" noGrp="1"/>
          </p:cNvSpPr>
          <p:nvPr/>
        </p:nvSpPr>
        <p:spPr>
          <a:xfrm xmlns:a="http://schemas.openxmlformats.org/drawingml/2006/main">
            <a:off x="628650" y="2676525"/>
            <a:ext cx="5048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The staff-to-manager handoff connects</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physical work to approved stock changes.</a:t>
            </a:r>
          </a:p>
        </p:txBody>
      </p:sp>
      <p:sp>
        <p:nvSpPr>
          <p:cNvPr id="4" name="s13-text3">
            <a:extLst xmlns:a="http://schemas.openxmlformats.org/drawingml/2006/main">
              <a:ext uri="{FF2B5EF4-FFF2-40B4-BE49-F238E27FC236}">
                <a16:creationId xmlns:a16="http://schemas.microsoft.com/office/drawing/2014/main" id="{6CB0E3FE-4C44-4DE4-A335-42158673C1CC}"/>
              </a:ext>
            </a:extLst>
          </p:cNvPr>
          <p:cNvSpPr>
            <a:spLocks xmlns:a="http://schemas.openxmlformats.org/drawingml/2006/main" noGrp="1"/>
          </p:cNvSpPr>
          <p:nvPr/>
        </p:nvSpPr>
        <p:spPr>
          <a:xfrm xmlns:a="http://schemas.openxmlformats.org/drawingml/2006/main">
            <a:off x="6619875" y="211455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AF264"/>
                </a:solidFill>
                <a:latin typeface="Arial"/>
                <a:ea typeface="Arial"/>
                <a:cs typeface="Arial"/>
              </a:defRPr>
            </a:pPr>
            <a:r>
              <a:rPr sz="2325" b="1">
                <a:solidFill>
                  <a:srgbClr val="BAF264"/>
                </a:solidFill>
                <a:latin typeface="Arial"/>
                <a:ea typeface="Arial"/>
                <a:cs typeface="Arial"/>
              </a:rPr>
              <a:t>What if AI is unavailable?</a:t>
            </a:r>
          </a:p>
        </p:txBody>
      </p:sp>
      <p:sp>
        <p:nvSpPr>
          <p:cNvPr id="5" name="s13-text4">
            <a:extLst xmlns:a="http://schemas.openxmlformats.org/drawingml/2006/main">
              <a:ext uri="{FF2B5EF4-FFF2-40B4-BE49-F238E27FC236}">
                <a16:creationId xmlns:a16="http://schemas.microsoft.com/office/drawing/2014/main" id="{079C1A63-3E1E-4FE8-90A0-CDBDF89499E3}"/>
              </a:ext>
            </a:extLst>
          </p:cNvPr>
          <p:cNvSpPr>
            <a:spLocks xmlns:a="http://schemas.openxmlformats.org/drawingml/2006/main" noGrp="1"/>
          </p:cNvSpPr>
          <p:nvPr/>
        </p:nvSpPr>
        <p:spPr>
          <a:xfrm xmlns:a="http://schemas.openxmlformats.org/drawingml/2006/main">
            <a:off x="6619875" y="2676525"/>
            <a:ext cx="49053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Labeled inventory rules remain available.</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Posting still requires a person.</a:t>
            </a:r>
          </a:p>
        </p:txBody>
      </p:sp>
      <p:sp>
        <p:nvSpPr>
          <p:cNvPr id="6" name="s13-text5">
            <a:extLst xmlns:a="http://schemas.openxmlformats.org/drawingml/2006/main">
              <a:ext uri="{FF2B5EF4-FFF2-40B4-BE49-F238E27FC236}">
                <a16:creationId xmlns:a16="http://schemas.microsoft.com/office/drawing/2014/main" id="{C41E1FED-FE28-4E7A-B3A8-1B58EBFDB6F1}"/>
              </a:ext>
            </a:extLst>
          </p:cNvPr>
          <p:cNvSpPr>
            <a:spLocks xmlns:a="http://schemas.openxmlformats.org/drawingml/2006/main" noGrp="1"/>
          </p:cNvSpPr>
          <p:nvPr/>
        </p:nvSpPr>
        <p:spPr>
          <a:xfrm xmlns:a="http://schemas.openxmlformats.org/drawingml/2006/main">
            <a:off x="628650" y="42195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AF264"/>
                </a:solidFill>
                <a:latin typeface="Arial"/>
                <a:ea typeface="Arial"/>
                <a:cs typeface="Arial"/>
              </a:defRPr>
            </a:pPr>
            <a:r>
              <a:rPr sz="2325" b="1">
                <a:solidFill>
                  <a:srgbClr val="BAF264"/>
                </a:solidFill>
                <a:latin typeface="Arial"/>
                <a:ea typeface="Arial"/>
                <a:cs typeface="Arial"/>
              </a:rPr>
              <a:t>How would it earn revenue?</a:t>
            </a:r>
          </a:p>
        </p:txBody>
      </p:sp>
      <p:sp>
        <p:nvSpPr>
          <p:cNvPr id="7" name="s13-text6">
            <a:extLst xmlns:a="http://schemas.openxmlformats.org/drawingml/2006/main">
              <a:ext uri="{FF2B5EF4-FFF2-40B4-BE49-F238E27FC236}">
                <a16:creationId xmlns:a16="http://schemas.microsoft.com/office/drawing/2014/main" id="{40D2BF09-0F39-40FC-9860-4F0EBCC56C5F}"/>
              </a:ext>
            </a:extLst>
          </p:cNvPr>
          <p:cNvSpPr>
            <a:spLocks xmlns:a="http://schemas.openxmlformats.org/drawingml/2006/main" noGrp="1"/>
          </p:cNvSpPr>
          <p:nvPr/>
        </p:nvSpPr>
        <p:spPr>
          <a:xfrm xmlns:a="http://schemas.openxmlformats.org/drawingml/2006/main">
            <a:off x="628650" y="47815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Proposed workspace subscriptions</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by locations and active users.</a:t>
            </a:r>
          </a:p>
        </p:txBody>
      </p:sp>
      <p:sp>
        <p:nvSpPr>
          <p:cNvPr id="8" name="s13-text7">
            <a:extLst xmlns:a="http://schemas.openxmlformats.org/drawingml/2006/main">
              <a:ext uri="{FF2B5EF4-FFF2-40B4-BE49-F238E27FC236}">
                <a16:creationId xmlns:a16="http://schemas.microsoft.com/office/drawing/2014/main" id="{D19AA309-2267-4A77-ACCA-CF6CFA206FFF}"/>
              </a:ext>
            </a:extLst>
          </p:cNvPr>
          <p:cNvSpPr>
            <a:spLocks xmlns:a="http://schemas.openxmlformats.org/drawingml/2006/main" noGrp="1"/>
          </p:cNvSpPr>
          <p:nvPr/>
        </p:nvSpPr>
        <p:spPr>
          <a:xfrm xmlns:a="http://schemas.openxmlformats.org/drawingml/2006/main">
            <a:off x="6619875" y="42195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BAF264"/>
                </a:solidFill>
                <a:latin typeface="Arial"/>
                <a:ea typeface="Arial"/>
                <a:cs typeface="Arial"/>
              </a:defRPr>
            </a:pPr>
            <a:r>
              <a:rPr sz="2325" b="1">
                <a:solidFill>
                  <a:srgbClr val="BAF264"/>
                </a:solidFill>
                <a:latin typeface="Arial"/>
                <a:ea typeface="Arial"/>
                <a:cs typeface="Arial"/>
              </a:rPr>
              <a:t>What needs work before rollout?</a:t>
            </a:r>
          </a:p>
        </p:txBody>
      </p:sp>
      <p:sp>
        <p:nvSpPr>
          <p:cNvPr id="9" name="s13-text8">
            <a:extLst xmlns:a="http://schemas.openxmlformats.org/drawingml/2006/main">
              <a:ext uri="{FF2B5EF4-FFF2-40B4-BE49-F238E27FC236}">
                <a16:creationId xmlns:a16="http://schemas.microsoft.com/office/drawing/2014/main" id="{24E646AB-0DCA-4E59-A7BC-C1CC92B95A7B}"/>
              </a:ext>
            </a:extLst>
          </p:cNvPr>
          <p:cNvSpPr>
            <a:spLocks xmlns:a="http://schemas.openxmlformats.org/drawingml/2006/main" noGrp="1"/>
          </p:cNvSpPr>
          <p:nvPr/>
        </p:nvSpPr>
        <p:spPr>
          <a:xfrm xmlns:a="http://schemas.openxmlformats.org/drawingml/2006/main">
            <a:off x="6619875" y="47815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TLS, restore drills and monitoring.</a:t>
            </a:r>
          </a:p>
          <a:p xmlns:a="http://schemas.openxmlformats.org/drawingml/2006/main">
            <a:pPr>
              <a:defRPr sz="1950" b="0">
                <a:solidFill>
                  <a:srgbClr val="C5D7C5"/>
                </a:solidFill>
                <a:latin typeface="Arial"/>
                <a:ea typeface="Arial"/>
                <a:cs typeface="Arial"/>
              </a:defRPr>
            </a:pPr>
            <a:r>
              <a:rPr sz="1950" b="0">
                <a:solidFill>
                  <a:srgbClr val="C5D7C5"/>
                </a:solidFill>
                <a:latin typeface="Arial"/>
                <a:ea typeface="Arial"/>
                <a:cs typeface="Arial"/>
              </a:rPr>
              <a:t>Scale work beyond SQLite on one node.</a:t>
            </a:r>
          </a:p>
        </p:txBody>
      </p:sp>
    </p:spTree>
    <p:transition spd="med" advClick="1">
      <p:fade/>
    </p:transition>
    <p:extLst>
      <p:ext uri="{BB962C8B-B14F-4D97-AF65-F5344CB8AC3E}">
        <p14:creationId xmlns:p14="http://schemas.microsoft.com/office/powerpoint/2010/main" val="229206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2026-09-26T08:38:53.4680000Z</dcterms:created>
  <dcterms:modified xsi:type="dcterms:W3CDTF">2026-09-26T08:38:53.4680000Z</dcterms:modified>
</coreProperties>
</file>